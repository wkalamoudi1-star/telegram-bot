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61"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80" r:id="rId17"/>
    <p:sldId id="276" r:id="rId18"/>
    <p:sldId id="277" r:id="rId19"/>
    <p:sldId id="278" r:id="rId20"/>
    <p:sldId id="279" r:id="rId21"/>
  </p:sldIdLst>
  <p:sldSz cx="12192000" cy="6858000"/>
  <p:notesSz cx="6858000" cy="9144000"/>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6" autoAdjust="0"/>
    <p:restoredTop sz="94660"/>
  </p:normalViewPr>
  <p:slideViewPr>
    <p:cSldViewPr snapToGrid="0">
      <p:cViewPr varScale="1">
        <p:scale>
          <a:sx n="91" d="100"/>
          <a:sy n="91" d="100"/>
        </p:scale>
        <p:origin x="53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1524000" y="1122363"/>
            <a:ext cx="9144000" cy="2387600"/>
          </a:xfrm>
        </p:spPr>
        <p:txBody>
          <a:bodyPr anchor="b"/>
          <a:lstStyle>
            <a:lvl1pPr algn="ctr">
              <a:defRPr sz="6000"/>
            </a:lvl1pPr>
          </a:lstStyle>
          <a:p>
            <a:r>
              <a:rPr lang="ar-SA" smtClean="0"/>
              <a:t>انقر لتحرير نمط العنوان الرئيسي</a:t>
            </a:r>
            <a:endParaRPr lang="en-US"/>
          </a:p>
        </p:txBody>
      </p:sp>
      <p:sp>
        <p:nvSpPr>
          <p:cNvPr id="3" name="عنوان فرعي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smtClean="0"/>
              <a:t>انقر لتحرير نمط العنوان الثانوي الرئيسي</a:t>
            </a:r>
            <a:endParaRPr lang="en-US"/>
          </a:p>
        </p:txBody>
      </p:sp>
      <p:sp>
        <p:nvSpPr>
          <p:cNvPr id="4" name="عنصر نائب للتاريخ 3"/>
          <p:cNvSpPr>
            <a:spLocks noGrp="1"/>
          </p:cNvSpPr>
          <p:nvPr>
            <p:ph type="dt" sz="half" idx="10"/>
          </p:nvPr>
        </p:nvSpPr>
        <p:spPr/>
        <p:txBody>
          <a:bodyPr/>
          <a:lstStyle/>
          <a:p>
            <a:fld id="{D9B6438D-38CF-44B2-946D-03C364F08B45}" type="datetimeFigureOut">
              <a:rPr lang="en-US" smtClean="0"/>
              <a:t>8/16/2023</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9D5D2BCD-C178-4CC2-9CE4-6A40C586C8AC}" type="slidenum">
              <a:rPr lang="en-US" smtClean="0"/>
              <a:t>‹#›</a:t>
            </a:fld>
            <a:endParaRPr lang="en-US"/>
          </a:p>
        </p:txBody>
      </p:sp>
    </p:spTree>
    <p:extLst>
      <p:ext uri="{BB962C8B-B14F-4D97-AF65-F5344CB8AC3E}">
        <p14:creationId xmlns:p14="http://schemas.microsoft.com/office/powerpoint/2010/main" val="2449305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محتوى 2"/>
          <p:cNvSpPr>
            <a:spLocks noGrp="1"/>
          </p:cNvSpPr>
          <p:nvPr>
            <p:ph idx="1"/>
          </p:nvPr>
        </p:nvSpPr>
        <p:spPr/>
        <p:txBody>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10"/>
          </p:nvPr>
        </p:nvSpPr>
        <p:spPr/>
        <p:txBody>
          <a:bodyPr/>
          <a:lstStyle/>
          <a:p>
            <a:fld id="{D9B6438D-38CF-44B2-946D-03C364F08B45}" type="datetimeFigureOut">
              <a:rPr lang="en-US" smtClean="0"/>
              <a:t>8/16/2023</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9D5D2BCD-C178-4CC2-9CE4-6A40C586C8AC}" type="slidenum">
              <a:rPr lang="en-US" smtClean="0"/>
              <a:t>‹#›</a:t>
            </a:fld>
            <a:endParaRPr lang="en-US"/>
          </a:p>
        </p:txBody>
      </p:sp>
    </p:spTree>
    <p:extLst>
      <p:ext uri="{BB962C8B-B14F-4D97-AF65-F5344CB8AC3E}">
        <p14:creationId xmlns:p14="http://schemas.microsoft.com/office/powerpoint/2010/main" val="2956370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831850" y="1709738"/>
            <a:ext cx="10515600" cy="2852737"/>
          </a:xfrm>
        </p:spPr>
        <p:txBody>
          <a:bodyPr anchor="b"/>
          <a:lstStyle>
            <a:lvl1pPr>
              <a:defRPr sz="6000"/>
            </a:lvl1pPr>
          </a:lstStyle>
          <a:p>
            <a:r>
              <a:rPr lang="ar-SA" smtClean="0"/>
              <a:t>انقر لتحرير نمط العنوان الرئيسي</a:t>
            </a:r>
            <a:endParaRPr lang="en-US"/>
          </a:p>
        </p:txBody>
      </p:sp>
      <p:sp>
        <p:nvSpPr>
          <p:cNvPr id="3" name="عنصر نائب للنص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smtClean="0"/>
              <a:t>تحرير أنماط النص الرئيسي</a:t>
            </a:r>
          </a:p>
        </p:txBody>
      </p:sp>
      <p:sp>
        <p:nvSpPr>
          <p:cNvPr id="4" name="عنصر نائب للتاريخ 3"/>
          <p:cNvSpPr>
            <a:spLocks noGrp="1"/>
          </p:cNvSpPr>
          <p:nvPr>
            <p:ph type="dt" sz="half" idx="10"/>
          </p:nvPr>
        </p:nvSpPr>
        <p:spPr/>
        <p:txBody>
          <a:bodyPr/>
          <a:lstStyle/>
          <a:p>
            <a:fld id="{D9B6438D-38CF-44B2-946D-03C364F08B45}" type="datetimeFigureOut">
              <a:rPr lang="en-US" smtClean="0"/>
              <a:t>8/16/2023</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9D5D2BCD-C178-4CC2-9CE4-6A40C586C8AC}" type="slidenum">
              <a:rPr lang="en-US" smtClean="0"/>
              <a:t>‹#›</a:t>
            </a:fld>
            <a:endParaRPr lang="en-US"/>
          </a:p>
        </p:txBody>
      </p:sp>
    </p:spTree>
    <p:extLst>
      <p:ext uri="{BB962C8B-B14F-4D97-AF65-F5344CB8AC3E}">
        <p14:creationId xmlns:p14="http://schemas.microsoft.com/office/powerpoint/2010/main" val="120496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محتوى 2"/>
          <p:cNvSpPr>
            <a:spLocks noGrp="1"/>
          </p:cNvSpPr>
          <p:nvPr>
            <p:ph sz="half" idx="1"/>
          </p:nvPr>
        </p:nvSpPr>
        <p:spPr>
          <a:xfrm>
            <a:off x="838200" y="1825625"/>
            <a:ext cx="5181600" cy="4351338"/>
          </a:xfrm>
        </p:spPr>
        <p:txBody>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محتوى 3"/>
          <p:cNvSpPr>
            <a:spLocks noGrp="1"/>
          </p:cNvSpPr>
          <p:nvPr>
            <p:ph sz="half" idx="2"/>
          </p:nvPr>
        </p:nvSpPr>
        <p:spPr>
          <a:xfrm>
            <a:off x="6172200" y="1825625"/>
            <a:ext cx="5181600" cy="4351338"/>
          </a:xfrm>
        </p:spPr>
        <p:txBody>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5" name="عنصر نائب للتاريخ 4"/>
          <p:cNvSpPr>
            <a:spLocks noGrp="1"/>
          </p:cNvSpPr>
          <p:nvPr>
            <p:ph type="dt" sz="half" idx="10"/>
          </p:nvPr>
        </p:nvSpPr>
        <p:spPr/>
        <p:txBody>
          <a:bodyPr/>
          <a:lstStyle/>
          <a:p>
            <a:fld id="{D9B6438D-38CF-44B2-946D-03C364F08B45}" type="datetimeFigureOut">
              <a:rPr lang="en-US" smtClean="0"/>
              <a:t>8/16/2023</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9D5D2BCD-C178-4CC2-9CE4-6A40C586C8AC}" type="slidenum">
              <a:rPr lang="en-US" smtClean="0"/>
              <a:t>‹#›</a:t>
            </a:fld>
            <a:endParaRPr lang="en-US"/>
          </a:p>
        </p:txBody>
      </p:sp>
    </p:spTree>
    <p:extLst>
      <p:ext uri="{BB962C8B-B14F-4D97-AF65-F5344CB8AC3E}">
        <p14:creationId xmlns:p14="http://schemas.microsoft.com/office/powerpoint/2010/main" val="4199948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a:xfrm>
            <a:off x="839788" y="365125"/>
            <a:ext cx="10515600" cy="1325563"/>
          </a:xfrm>
        </p:spPr>
        <p:txBody>
          <a:bodyPr/>
          <a:lstStyle/>
          <a:p>
            <a:r>
              <a:rPr lang="ar-SA" smtClean="0"/>
              <a:t>انقر لتحرير نمط العنوان الرئيسي</a:t>
            </a:r>
            <a:endParaRPr lang="en-US"/>
          </a:p>
        </p:txBody>
      </p:sp>
      <p:sp>
        <p:nvSpPr>
          <p:cNvPr id="3" name="عنصر نائب للنص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تحرير أنماط النص الرئيسي</a:t>
            </a:r>
          </a:p>
        </p:txBody>
      </p:sp>
      <p:sp>
        <p:nvSpPr>
          <p:cNvPr id="4" name="عنصر نائب للمحتوى 3"/>
          <p:cNvSpPr>
            <a:spLocks noGrp="1"/>
          </p:cNvSpPr>
          <p:nvPr>
            <p:ph sz="half" idx="2"/>
          </p:nvPr>
        </p:nvSpPr>
        <p:spPr>
          <a:xfrm>
            <a:off x="839788" y="2505075"/>
            <a:ext cx="5157787" cy="3684588"/>
          </a:xfrm>
        </p:spPr>
        <p:txBody>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5" name="عنصر نائب للنص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smtClean="0"/>
              <a:t>تحرير أنماط النص الرئيسي</a:t>
            </a:r>
          </a:p>
        </p:txBody>
      </p:sp>
      <p:sp>
        <p:nvSpPr>
          <p:cNvPr id="6" name="عنصر نائب للمحتوى 5"/>
          <p:cNvSpPr>
            <a:spLocks noGrp="1"/>
          </p:cNvSpPr>
          <p:nvPr>
            <p:ph sz="quarter" idx="4"/>
          </p:nvPr>
        </p:nvSpPr>
        <p:spPr>
          <a:xfrm>
            <a:off x="6172200" y="2505075"/>
            <a:ext cx="5183188" cy="3684588"/>
          </a:xfrm>
        </p:spPr>
        <p:txBody>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7" name="عنصر نائب للتاريخ 6"/>
          <p:cNvSpPr>
            <a:spLocks noGrp="1"/>
          </p:cNvSpPr>
          <p:nvPr>
            <p:ph type="dt" sz="half" idx="10"/>
          </p:nvPr>
        </p:nvSpPr>
        <p:spPr/>
        <p:txBody>
          <a:bodyPr/>
          <a:lstStyle/>
          <a:p>
            <a:fld id="{D9B6438D-38CF-44B2-946D-03C364F08B45}" type="datetimeFigureOut">
              <a:rPr lang="en-US" smtClean="0"/>
              <a:t>8/16/2023</a:t>
            </a:fld>
            <a:endParaRPr lang="en-US"/>
          </a:p>
        </p:txBody>
      </p:sp>
      <p:sp>
        <p:nvSpPr>
          <p:cNvPr id="8" name="عنصر نائب للتذييل 7"/>
          <p:cNvSpPr>
            <a:spLocks noGrp="1"/>
          </p:cNvSpPr>
          <p:nvPr>
            <p:ph type="ftr" sz="quarter" idx="11"/>
          </p:nvPr>
        </p:nvSpPr>
        <p:spPr/>
        <p:txBody>
          <a:bodyPr/>
          <a:lstStyle/>
          <a:p>
            <a:endParaRPr lang="en-US"/>
          </a:p>
        </p:txBody>
      </p:sp>
      <p:sp>
        <p:nvSpPr>
          <p:cNvPr id="9" name="عنصر نائب لرقم الشريحة 8"/>
          <p:cNvSpPr>
            <a:spLocks noGrp="1"/>
          </p:cNvSpPr>
          <p:nvPr>
            <p:ph type="sldNum" sz="quarter" idx="12"/>
          </p:nvPr>
        </p:nvSpPr>
        <p:spPr/>
        <p:txBody>
          <a:bodyPr/>
          <a:lstStyle/>
          <a:p>
            <a:fld id="{9D5D2BCD-C178-4CC2-9CE4-6A40C586C8AC}" type="slidenum">
              <a:rPr lang="en-US" smtClean="0"/>
              <a:t>‹#›</a:t>
            </a:fld>
            <a:endParaRPr lang="en-US"/>
          </a:p>
        </p:txBody>
      </p:sp>
    </p:spTree>
    <p:extLst>
      <p:ext uri="{BB962C8B-B14F-4D97-AF65-F5344CB8AC3E}">
        <p14:creationId xmlns:p14="http://schemas.microsoft.com/office/powerpoint/2010/main" val="64640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تاريخ 2"/>
          <p:cNvSpPr>
            <a:spLocks noGrp="1"/>
          </p:cNvSpPr>
          <p:nvPr>
            <p:ph type="dt" sz="half" idx="10"/>
          </p:nvPr>
        </p:nvSpPr>
        <p:spPr/>
        <p:txBody>
          <a:bodyPr/>
          <a:lstStyle/>
          <a:p>
            <a:fld id="{D9B6438D-38CF-44B2-946D-03C364F08B45}" type="datetimeFigureOut">
              <a:rPr lang="en-US" smtClean="0"/>
              <a:t>8/16/2023</a:t>
            </a:fld>
            <a:endParaRPr lang="en-US"/>
          </a:p>
        </p:txBody>
      </p:sp>
      <p:sp>
        <p:nvSpPr>
          <p:cNvPr id="4" name="عنصر نائب للتذييل 3"/>
          <p:cNvSpPr>
            <a:spLocks noGrp="1"/>
          </p:cNvSpPr>
          <p:nvPr>
            <p:ph type="ftr" sz="quarter" idx="11"/>
          </p:nvPr>
        </p:nvSpPr>
        <p:spPr/>
        <p:txBody>
          <a:bodyPr/>
          <a:lstStyle/>
          <a:p>
            <a:endParaRPr lang="en-US"/>
          </a:p>
        </p:txBody>
      </p:sp>
      <p:sp>
        <p:nvSpPr>
          <p:cNvPr id="5" name="عنصر نائب لرقم الشريحة 4"/>
          <p:cNvSpPr>
            <a:spLocks noGrp="1"/>
          </p:cNvSpPr>
          <p:nvPr>
            <p:ph type="sldNum" sz="quarter" idx="12"/>
          </p:nvPr>
        </p:nvSpPr>
        <p:spPr/>
        <p:txBody>
          <a:bodyPr/>
          <a:lstStyle/>
          <a:p>
            <a:fld id="{9D5D2BCD-C178-4CC2-9CE4-6A40C586C8AC}" type="slidenum">
              <a:rPr lang="en-US" smtClean="0"/>
              <a:t>‹#›</a:t>
            </a:fld>
            <a:endParaRPr lang="en-US"/>
          </a:p>
        </p:txBody>
      </p:sp>
    </p:spTree>
    <p:extLst>
      <p:ext uri="{BB962C8B-B14F-4D97-AF65-F5344CB8AC3E}">
        <p14:creationId xmlns:p14="http://schemas.microsoft.com/office/powerpoint/2010/main" val="2287047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D9B6438D-38CF-44B2-946D-03C364F08B45}" type="datetimeFigureOut">
              <a:rPr lang="en-US" smtClean="0"/>
              <a:t>8/16/2023</a:t>
            </a:fld>
            <a:endParaRPr lang="en-US"/>
          </a:p>
        </p:txBody>
      </p:sp>
      <p:sp>
        <p:nvSpPr>
          <p:cNvPr id="3" name="عنصر نائب للتذييل 2"/>
          <p:cNvSpPr>
            <a:spLocks noGrp="1"/>
          </p:cNvSpPr>
          <p:nvPr>
            <p:ph type="ftr" sz="quarter" idx="11"/>
          </p:nvPr>
        </p:nvSpPr>
        <p:spPr/>
        <p:txBody>
          <a:bodyPr/>
          <a:lstStyle/>
          <a:p>
            <a:endParaRPr lang="en-US"/>
          </a:p>
        </p:txBody>
      </p:sp>
      <p:sp>
        <p:nvSpPr>
          <p:cNvPr id="4" name="عنصر نائب لرقم الشريحة 3"/>
          <p:cNvSpPr>
            <a:spLocks noGrp="1"/>
          </p:cNvSpPr>
          <p:nvPr>
            <p:ph type="sldNum" sz="quarter" idx="12"/>
          </p:nvPr>
        </p:nvSpPr>
        <p:spPr/>
        <p:txBody>
          <a:bodyPr/>
          <a:lstStyle/>
          <a:p>
            <a:fld id="{9D5D2BCD-C178-4CC2-9CE4-6A40C586C8AC}" type="slidenum">
              <a:rPr lang="en-US" smtClean="0"/>
              <a:t>‹#›</a:t>
            </a:fld>
            <a:endParaRPr lang="en-US"/>
          </a:p>
        </p:txBody>
      </p:sp>
    </p:spTree>
    <p:extLst>
      <p:ext uri="{BB962C8B-B14F-4D97-AF65-F5344CB8AC3E}">
        <p14:creationId xmlns:p14="http://schemas.microsoft.com/office/powerpoint/2010/main" val="639790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839788" y="457200"/>
            <a:ext cx="3932237" cy="1600200"/>
          </a:xfrm>
        </p:spPr>
        <p:txBody>
          <a:bodyPr anchor="b"/>
          <a:lstStyle>
            <a:lvl1pPr>
              <a:defRPr sz="3200"/>
            </a:lvl1pPr>
          </a:lstStyle>
          <a:p>
            <a:r>
              <a:rPr lang="ar-SA" smtClean="0"/>
              <a:t>انقر لتحرير نمط العنوان الرئيسي</a:t>
            </a:r>
            <a:endParaRPr lang="en-US"/>
          </a:p>
        </p:txBody>
      </p:sp>
      <p:sp>
        <p:nvSpPr>
          <p:cNvPr id="3" name="عنصر نائب للمحتوى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نص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smtClean="0"/>
              <a:t>تحرير أنماط النص الرئيسي</a:t>
            </a:r>
          </a:p>
        </p:txBody>
      </p:sp>
      <p:sp>
        <p:nvSpPr>
          <p:cNvPr id="5" name="عنصر نائب للتاريخ 4"/>
          <p:cNvSpPr>
            <a:spLocks noGrp="1"/>
          </p:cNvSpPr>
          <p:nvPr>
            <p:ph type="dt" sz="half" idx="10"/>
          </p:nvPr>
        </p:nvSpPr>
        <p:spPr/>
        <p:txBody>
          <a:bodyPr/>
          <a:lstStyle/>
          <a:p>
            <a:fld id="{D9B6438D-38CF-44B2-946D-03C364F08B45}" type="datetimeFigureOut">
              <a:rPr lang="en-US" smtClean="0"/>
              <a:t>8/16/2023</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9D5D2BCD-C178-4CC2-9CE4-6A40C586C8AC}" type="slidenum">
              <a:rPr lang="en-US" smtClean="0"/>
              <a:t>‹#›</a:t>
            </a:fld>
            <a:endParaRPr lang="en-US"/>
          </a:p>
        </p:txBody>
      </p:sp>
    </p:spTree>
    <p:extLst>
      <p:ext uri="{BB962C8B-B14F-4D97-AF65-F5344CB8AC3E}">
        <p14:creationId xmlns:p14="http://schemas.microsoft.com/office/powerpoint/2010/main" val="3188912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839788" y="457200"/>
            <a:ext cx="3932237" cy="1600200"/>
          </a:xfrm>
        </p:spPr>
        <p:txBody>
          <a:bodyPr anchor="b"/>
          <a:lstStyle>
            <a:lvl1pPr>
              <a:defRPr sz="3200"/>
            </a:lvl1pPr>
          </a:lstStyle>
          <a:p>
            <a:r>
              <a:rPr lang="ar-SA" smtClean="0"/>
              <a:t>انقر لتحرير نمط العنوان الرئيسي</a:t>
            </a:r>
            <a:endParaRPr lang="en-US"/>
          </a:p>
        </p:txBody>
      </p:sp>
      <p:sp>
        <p:nvSpPr>
          <p:cNvPr id="3" name="عنصر نائب للصورة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عنصر نائب للنص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smtClean="0"/>
              <a:t>تحرير أنماط النص الرئيسي</a:t>
            </a:r>
          </a:p>
        </p:txBody>
      </p:sp>
      <p:sp>
        <p:nvSpPr>
          <p:cNvPr id="5" name="عنصر نائب للتاريخ 4"/>
          <p:cNvSpPr>
            <a:spLocks noGrp="1"/>
          </p:cNvSpPr>
          <p:nvPr>
            <p:ph type="dt" sz="half" idx="10"/>
          </p:nvPr>
        </p:nvSpPr>
        <p:spPr/>
        <p:txBody>
          <a:bodyPr/>
          <a:lstStyle/>
          <a:p>
            <a:fld id="{D9B6438D-38CF-44B2-946D-03C364F08B45}" type="datetimeFigureOut">
              <a:rPr lang="en-US" smtClean="0"/>
              <a:t>8/16/2023</a:t>
            </a:fld>
            <a:endParaRPr lang="en-US"/>
          </a:p>
        </p:txBody>
      </p:sp>
      <p:sp>
        <p:nvSpPr>
          <p:cNvPr id="6" name="عنصر نائب للتذييل 5"/>
          <p:cNvSpPr>
            <a:spLocks noGrp="1"/>
          </p:cNvSpPr>
          <p:nvPr>
            <p:ph type="ftr" sz="quarter" idx="11"/>
          </p:nvPr>
        </p:nvSpPr>
        <p:spPr/>
        <p:txBody>
          <a:bodyPr/>
          <a:lstStyle/>
          <a:p>
            <a:endParaRPr lang="en-US"/>
          </a:p>
        </p:txBody>
      </p:sp>
      <p:sp>
        <p:nvSpPr>
          <p:cNvPr id="7" name="عنصر نائب لرقم الشريحة 6"/>
          <p:cNvSpPr>
            <a:spLocks noGrp="1"/>
          </p:cNvSpPr>
          <p:nvPr>
            <p:ph type="sldNum" sz="quarter" idx="12"/>
          </p:nvPr>
        </p:nvSpPr>
        <p:spPr/>
        <p:txBody>
          <a:bodyPr/>
          <a:lstStyle/>
          <a:p>
            <a:fld id="{9D5D2BCD-C178-4CC2-9CE4-6A40C586C8AC}" type="slidenum">
              <a:rPr lang="en-US" smtClean="0"/>
              <a:t>‹#›</a:t>
            </a:fld>
            <a:endParaRPr lang="en-US"/>
          </a:p>
        </p:txBody>
      </p:sp>
    </p:spTree>
    <p:extLst>
      <p:ext uri="{BB962C8B-B14F-4D97-AF65-F5344CB8AC3E}">
        <p14:creationId xmlns:p14="http://schemas.microsoft.com/office/powerpoint/2010/main" val="267177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smtClean="0"/>
              <a:t>انقر لتحرير نمط العنوان الرئيسي</a:t>
            </a:r>
            <a:endParaRPr lang="en-US"/>
          </a:p>
        </p:txBody>
      </p:sp>
      <p:sp>
        <p:nvSpPr>
          <p:cNvPr id="3" name="عنصر نائب للعنوان العمودي 2"/>
          <p:cNvSpPr>
            <a:spLocks noGrp="1"/>
          </p:cNvSpPr>
          <p:nvPr>
            <p:ph type="body" orient="vert" idx="1"/>
          </p:nvPr>
        </p:nvSpPr>
        <p:spPr/>
        <p:txBody>
          <a:bodyPr vert="eaVert"/>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10"/>
          </p:nvPr>
        </p:nvSpPr>
        <p:spPr/>
        <p:txBody>
          <a:bodyPr/>
          <a:lstStyle/>
          <a:p>
            <a:fld id="{D9B6438D-38CF-44B2-946D-03C364F08B45}" type="datetimeFigureOut">
              <a:rPr lang="en-US" smtClean="0"/>
              <a:t>8/16/2023</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9D5D2BCD-C178-4CC2-9CE4-6A40C586C8AC}" type="slidenum">
              <a:rPr lang="en-US" smtClean="0"/>
              <a:t>‹#›</a:t>
            </a:fld>
            <a:endParaRPr lang="en-US"/>
          </a:p>
        </p:txBody>
      </p:sp>
    </p:spTree>
    <p:extLst>
      <p:ext uri="{BB962C8B-B14F-4D97-AF65-F5344CB8AC3E}">
        <p14:creationId xmlns:p14="http://schemas.microsoft.com/office/powerpoint/2010/main" val="3143441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8724900" y="365125"/>
            <a:ext cx="2628900" cy="5811838"/>
          </a:xfrm>
        </p:spPr>
        <p:txBody>
          <a:bodyPr vert="eaVert"/>
          <a:lstStyle/>
          <a:p>
            <a:r>
              <a:rPr lang="ar-SA" smtClean="0"/>
              <a:t>انقر لتحرير نمط العنوان الرئيسي</a:t>
            </a:r>
            <a:endParaRPr lang="en-US"/>
          </a:p>
        </p:txBody>
      </p:sp>
      <p:sp>
        <p:nvSpPr>
          <p:cNvPr id="3" name="عنصر نائب للعنوان العمودي 2"/>
          <p:cNvSpPr>
            <a:spLocks noGrp="1"/>
          </p:cNvSpPr>
          <p:nvPr>
            <p:ph type="body" orient="vert" idx="1"/>
          </p:nvPr>
        </p:nvSpPr>
        <p:spPr>
          <a:xfrm>
            <a:off x="838200" y="365125"/>
            <a:ext cx="7734300" cy="5811838"/>
          </a:xfrm>
        </p:spPr>
        <p:txBody>
          <a:bodyPr vert="eaVert"/>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10"/>
          </p:nvPr>
        </p:nvSpPr>
        <p:spPr/>
        <p:txBody>
          <a:bodyPr/>
          <a:lstStyle/>
          <a:p>
            <a:fld id="{D9B6438D-38CF-44B2-946D-03C364F08B45}" type="datetimeFigureOut">
              <a:rPr lang="en-US" smtClean="0"/>
              <a:t>8/16/2023</a:t>
            </a:fld>
            <a:endParaRPr lang="en-US"/>
          </a:p>
        </p:txBody>
      </p:sp>
      <p:sp>
        <p:nvSpPr>
          <p:cNvPr id="5" name="عنصر نائب للتذييل 4"/>
          <p:cNvSpPr>
            <a:spLocks noGrp="1"/>
          </p:cNvSpPr>
          <p:nvPr>
            <p:ph type="ftr" sz="quarter" idx="11"/>
          </p:nvPr>
        </p:nvSpPr>
        <p:spPr/>
        <p:txBody>
          <a:bodyPr/>
          <a:lstStyle/>
          <a:p>
            <a:endParaRPr lang="en-US"/>
          </a:p>
        </p:txBody>
      </p:sp>
      <p:sp>
        <p:nvSpPr>
          <p:cNvPr id="6" name="عنصر نائب لرقم الشريحة 5"/>
          <p:cNvSpPr>
            <a:spLocks noGrp="1"/>
          </p:cNvSpPr>
          <p:nvPr>
            <p:ph type="sldNum" sz="quarter" idx="12"/>
          </p:nvPr>
        </p:nvSpPr>
        <p:spPr/>
        <p:txBody>
          <a:bodyPr/>
          <a:lstStyle/>
          <a:p>
            <a:fld id="{9D5D2BCD-C178-4CC2-9CE4-6A40C586C8AC}" type="slidenum">
              <a:rPr lang="en-US" smtClean="0"/>
              <a:t>‹#›</a:t>
            </a:fld>
            <a:endParaRPr lang="en-US"/>
          </a:p>
        </p:txBody>
      </p:sp>
    </p:spTree>
    <p:extLst>
      <p:ext uri="{BB962C8B-B14F-4D97-AF65-F5344CB8AC3E}">
        <p14:creationId xmlns:p14="http://schemas.microsoft.com/office/powerpoint/2010/main" val="3040103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smtClean="0"/>
              <a:t>انقر لتحرير نمط العنوان الرئيسي</a:t>
            </a:r>
            <a:endParaRPr lang="en-US"/>
          </a:p>
        </p:txBody>
      </p:sp>
      <p:sp>
        <p:nvSpPr>
          <p:cNvPr id="3" name="عنصر نائب للنص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smtClean="0"/>
              <a:t>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en-US"/>
          </a:p>
        </p:txBody>
      </p:sp>
      <p:sp>
        <p:nvSpPr>
          <p:cNvPr id="4" name="عنصر نائب للتاريخ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D9B6438D-38CF-44B2-946D-03C364F08B45}" type="datetimeFigureOut">
              <a:rPr lang="en-US" smtClean="0"/>
              <a:t>8/16/2023</a:t>
            </a:fld>
            <a:endParaRPr lang="en-US"/>
          </a:p>
        </p:txBody>
      </p:sp>
      <p:sp>
        <p:nvSpPr>
          <p:cNvPr id="5" name="عنصر نائب للتذييل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US"/>
          </a:p>
        </p:txBody>
      </p:sp>
      <p:sp>
        <p:nvSpPr>
          <p:cNvPr id="6" name="عنصر نائب لرقم الشريحة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D5D2BCD-C178-4CC2-9CE4-6A40C586C8AC}" type="slidenum">
              <a:rPr lang="en-US" smtClean="0"/>
              <a:t>‹#›</a:t>
            </a:fld>
            <a:endParaRPr lang="en-US"/>
          </a:p>
        </p:txBody>
      </p:sp>
    </p:spTree>
    <p:extLst>
      <p:ext uri="{BB962C8B-B14F-4D97-AF65-F5344CB8AC3E}">
        <p14:creationId xmlns:p14="http://schemas.microsoft.com/office/powerpoint/2010/main" val="2499671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hyperlink" Target="https://elearning.edu.s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certigate.sa/"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docs.microsoft.com/ar-sa/learn/certifications/browse/"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s://learningnetwork.cisco.com/s/certifications"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hyperlink" Target="https://learning.adobe.com/certification.html"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hyperlink" Target="https://education.oracle.com/certification"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hyperlink" Target="https://www.sap.com/mena-ar/training-certification.html"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hyperlink" Target="https://e.huawei.com/en/talent/#/cert?navType=authNavKey"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home.pearsonvue.com/" TargetMode="External"/><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certiport.pearsonvue.co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hyperlink" Target="http://certigate.sa/"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hyperlink" Target="https://tvtc.gov.sa/ar/Departments/tvtcdepartments/Rayat/Pages/Documents.aspx"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hyperlink" Target="https://cdd.tvtc.gov.sa/sites/default/files/document/mlhq_dwbt_wtnzymt_tmd_lmwhlt_wmdl_lmqrrt_ltdryby_-_lmlhq_0.pdf" TargetMode="External"/><Relationship Id="rId5" Type="http://schemas.openxmlformats.org/officeDocument/2006/relationships/image" Target="../media/image17.png"/><Relationship Id="rId4" Type="http://schemas.openxmlformats.org/officeDocument/2006/relationships/hyperlink" Target="https://cdd.tvtc.gov.sa/"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صورة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مربع نص 4"/>
          <p:cNvSpPr txBox="1"/>
          <p:nvPr/>
        </p:nvSpPr>
        <p:spPr>
          <a:xfrm>
            <a:off x="3636579" y="3573517"/>
            <a:ext cx="5470351" cy="1015663"/>
          </a:xfrm>
          <a:prstGeom prst="rect">
            <a:avLst/>
          </a:prstGeom>
          <a:noFill/>
        </p:spPr>
        <p:txBody>
          <a:bodyPr wrap="square" rtlCol="0">
            <a:spAutoFit/>
          </a:bodyPr>
          <a:lstStyle/>
          <a:p>
            <a:pPr algn="ctr"/>
            <a:r>
              <a:rPr lang="ar-SA" sz="3000" dirty="0" smtClean="0">
                <a:solidFill>
                  <a:schemeClr val="bg1"/>
                </a:solidFill>
              </a:rPr>
              <a:t>نبذة عن الأكاديميات العالمية </a:t>
            </a:r>
          </a:p>
          <a:p>
            <a:pPr algn="ctr"/>
            <a:r>
              <a:rPr lang="ar-SA" sz="3000" dirty="0" smtClean="0">
                <a:solidFill>
                  <a:schemeClr val="bg1"/>
                </a:solidFill>
              </a:rPr>
              <a:t>والشهادات الاحترافية</a:t>
            </a:r>
          </a:p>
        </p:txBody>
      </p:sp>
    </p:spTree>
    <p:extLst>
      <p:ext uri="{BB962C8B-B14F-4D97-AF65-F5344CB8AC3E}">
        <p14:creationId xmlns:p14="http://schemas.microsoft.com/office/powerpoint/2010/main" val="37376783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4" name="عنوان 2"/>
          <p:cNvSpPr txBox="1">
            <a:spLocks/>
          </p:cNvSpPr>
          <p:nvPr/>
        </p:nvSpPr>
        <p:spPr>
          <a:xfrm>
            <a:off x="2254451" y="1777280"/>
            <a:ext cx="7710243" cy="608543"/>
          </a:xfrm>
          <a:prstGeom prst="rect">
            <a:avLst/>
          </a:prstGeom>
        </p:spPr>
        <p:txBody>
          <a:bodyPr vert="horz" lIns="91440" tIns="45720" rIns="91440" bIns="45720" rtlCol="1" anchor="b">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r>
              <a:rPr lang="ar-SA" sz="3600" dirty="0" smtClean="0">
                <a:cs typeface="AL-Mateen" pitchFamily="2" charset="-78"/>
              </a:rPr>
              <a:t>الأكاديميات العالمية  </a:t>
            </a:r>
            <a:r>
              <a:rPr lang="en-US" sz="3600" dirty="0" smtClean="0">
                <a:cs typeface="AL-Mateen" pitchFamily="2" charset="-78"/>
              </a:rPr>
              <a:t>International Academies</a:t>
            </a:r>
            <a:endParaRPr lang="ar-SA" sz="3600" dirty="0">
              <a:cs typeface="AL-Mateen" pitchFamily="2" charset="-78"/>
            </a:endParaRPr>
          </a:p>
        </p:txBody>
      </p:sp>
      <p:pic>
        <p:nvPicPr>
          <p:cNvPr id="5" name="صورة 4"/>
          <p:cNvPicPr>
            <a:picLocks noChangeAspect="1"/>
          </p:cNvPicPr>
          <p:nvPr/>
        </p:nvPicPr>
        <p:blipFill>
          <a:blip r:embed="rId3"/>
          <a:stretch>
            <a:fillRect/>
          </a:stretch>
        </p:blipFill>
        <p:spPr>
          <a:xfrm>
            <a:off x="3002161" y="2747904"/>
            <a:ext cx="6214824" cy="3018293"/>
          </a:xfrm>
          <a:prstGeom prst="rect">
            <a:avLst/>
          </a:prstGeom>
        </p:spPr>
      </p:pic>
      <p:sp>
        <p:nvSpPr>
          <p:cNvPr id="6" name="مربع نص 5"/>
          <p:cNvSpPr txBox="1"/>
          <p:nvPr/>
        </p:nvSpPr>
        <p:spPr>
          <a:xfrm>
            <a:off x="5079321" y="5881816"/>
            <a:ext cx="2458301" cy="646331"/>
          </a:xfrm>
          <a:prstGeom prst="rect">
            <a:avLst/>
          </a:prstGeom>
          <a:noFill/>
        </p:spPr>
        <p:txBody>
          <a:bodyPr wrap="none" rtlCol="0">
            <a:spAutoFit/>
          </a:bodyPr>
          <a:lstStyle/>
          <a:p>
            <a:r>
              <a:rPr lang="en-US" dirty="0" smtClean="0">
                <a:hlinkClick r:id="rId4"/>
              </a:rPr>
              <a:t>https://elearning.edu.sa</a:t>
            </a:r>
            <a:endParaRPr lang="ar-SA" dirty="0" smtClean="0"/>
          </a:p>
          <a:p>
            <a:endParaRPr lang="en-US" dirty="0"/>
          </a:p>
        </p:txBody>
      </p:sp>
    </p:spTree>
    <p:extLst>
      <p:ext uri="{BB962C8B-B14F-4D97-AF65-F5344CB8AC3E}">
        <p14:creationId xmlns:p14="http://schemas.microsoft.com/office/powerpoint/2010/main" val="20104583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4" name="عنصر نائب للنص 3"/>
          <p:cNvSpPr txBox="1">
            <a:spLocks/>
          </p:cNvSpPr>
          <p:nvPr/>
        </p:nvSpPr>
        <p:spPr>
          <a:xfrm>
            <a:off x="1037418" y="2408543"/>
            <a:ext cx="10161857" cy="2592083"/>
          </a:xfrm>
          <a:prstGeom prst="rect">
            <a:avLst/>
          </a:prstGeom>
        </p:spPr>
        <p:txBody>
          <a:bodyPr vert="horz" lIns="91440" tIns="45720" rIns="91440" bIns="45720" rtlCol="1" anchor="ctr"/>
          <a:lstStyle>
            <a:defPPr>
              <a:defRPr lang="en-US"/>
            </a:defPPr>
            <a:lvl1pPr marL="0" algn="l" defTabSz="914400" rtl="1" eaLnBrk="1" latinLnBrk="0" hangingPunct="1">
              <a:defRPr sz="1200" kern="1200">
                <a:solidFill>
                  <a:schemeClr val="tx1">
                    <a:tint val="75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endParaRPr lang="ar-SA" sz="2000" dirty="0" smtClean="0">
              <a:solidFill>
                <a:schemeClr val="tx1"/>
              </a:solidFill>
              <a:latin typeface="AL-Mateen"/>
            </a:endParaRPr>
          </a:p>
          <a:p>
            <a:pPr algn="just"/>
            <a:r>
              <a:rPr lang="ar-SA" sz="2000" dirty="0" smtClean="0">
                <a:solidFill>
                  <a:schemeClr val="tx1"/>
                </a:solidFill>
                <a:latin typeface="AL-Mateen"/>
              </a:rPr>
              <a:t>انطلاقاً من الأهداف الاستراتيجية للمؤسسة العامة للتدريب التقني والمهني والتي تضمنت تأهيل الكوادر البشرية الوطنية في المجالات التقنية والمهنية وتطويرها وفقا لطلب سوق العمل الكمي والنوعي وتقديم البرامج التدريبية بالجودة والكفاية فقد حرصت المؤسسة على تبني برامج تدريبية مصممة ومقدمة ومعتمدة من جهات وشركات دولية للوصول للعالمية في مجال التدريب والتأهيل, وذلك من خلال ابرام اتفاقيات مع شركات عالمية متخصصة في عدة مجالات وافتتاح أكاديميات لها داخل وحدات المؤسسة التدريبية لرفع نسبة مدربي ومتدربي الوحدات التدريبية المستفيدين من تلك الأكاديميات وتحفيزهم للحصول على الشهادات الاحترافية المقدمة منها. </a:t>
            </a:r>
            <a:endParaRPr lang="ar-SA" sz="2000" dirty="0">
              <a:solidFill>
                <a:schemeClr val="tx1"/>
              </a:solidFill>
              <a:latin typeface="AL-Mateen"/>
            </a:endParaRPr>
          </a:p>
        </p:txBody>
      </p:sp>
      <p:sp>
        <p:nvSpPr>
          <p:cNvPr id="5" name="عنوان 2"/>
          <p:cNvSpPr txBox="1">
            <a:spLocks/>
          </p:cNvSpPr>
          <p:nvPr/>
        </p:nvSpPr>
        <p:spPr>
          <a:xfrm>
            <a:off x="1755228" y="1725617"/>
            <a:ext cx="9144000" cy="945439"/>
          </a:xfrm>
          <a:prstGeom prst="rect">
            <a:avLst/>
          </a:prstGeom>
        </p:spPr>
        <p:txBody>
          <a:bodyPr vert="horz" lIns="91440" tIns="45720" rIns="91440" bIns="45720" rtlCol="1" anchor="b">
            <a:norm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r>
              <a:rPr lang="ar-SA" dirty="0" smtClean="0">
                <a:latin typeface="AL-Mateen"/>
              </a:rPr>
              <a:t>الأكاديميات العالمية</a:t>
            </a:r>
            <a:endParaRPr lang="ar-SA" dirty="0">
              <a:latin typeface="AL-Mateen"/>
            </a:endParaRPr>
          </a:p>
        </p:txBody>
      </p:sp>
    </p:spTree>
    <p:extLst>
      <p:ext uri="{BB962C8B-B14F-4D97-AF65-F5344CB8AC3E}">
        <p14:creationId xmlns:p14="http://schemas.microsoft.com/office/powerpoint/2010/main" val="42925991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4" name="عنصر نائب للنص 3"/>
          <p:cNvSpPr txBox="1">
            <a:spLocks/>
          </p:cNvSpPr>
          <p:nvPr/>
        </p:nvSpPr>
        <p:spPr>
          <a:xfrm>
            <a:off x="1038225" y="2725019"/>
            <a:ext cx="9792416" cy="2466108"/>
          </a:xfrm>
          <a:prstGeom prst="rect">
            <a:avLst/>
          </a:prstGeom>
          <a:noFill/>
          <a:effectLst/>
        </p:spPr>
        <p:txBody>
          <a:bodyPr vert="horz" lIns="91440" tIns="45720" rIns="91440" bIns="45720" rtlCol="1" anchor="ctr"/>
          <a:lstStyle>
            <a:defPPr>
              <a:defRPr lang="en-US"/>
            </a:defPPr>
            <a:lvl1pPr marL="0" algn="l" defTabSz="914400" rtl="1" eaLnBrk="1" latinLnBrk="0" hangingPunct="1">
              <a:defRPr sz="1200" kern="1200">
                <a:solidFill>
                  <a:schemeClr val="tx1">
                    <a:tint val="75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r>
              <a:rPr lang="ar-SA" sz="800" b="1" smtClean="0">
                <a:solidFill>
                  <a:srgbClr val="1FBAB3"/>
                </a:solidFill>
              </a:rPr>
              <a:t>	</a:t>
            </a:r>
          </a:p>
          <a:p>
            <a:pPr lvl="1">
              <a:buClr>
                <a:srgbClr val="1FBAB3"/>
              </a:buClr>
              <a:buFont typeface="Wingdings" panose="05000000000000000000" pitchFamily="2" charset="2"/>
              <a:buChar char="Ø"/>
            </a:pPr>
            <a:r>
              <a:rPr lang="ar-SA" sz="2000" smtClean="0"/>
              <a:t>مواكبة آخر المستجدات العالمية في التدريب والتأهيل على البرامج التدريبية المقدمة من الأكاديميات العالمية.</a:t>
            </a:r>
          </a:p>
          <a:p>
            <a:pPr lvl="1">
              <a:buClr>
                <a:srgbClr val="1FBAB3"/>
              </a:buClr>
              <a:buFont typeface="Wingdings" panose="05000000000000000000" pitchFamily="2" charset="2"/>
              <a:buChar char="Ø"/>
            </a:pPr>
            <a:r>
              <a:rPr lang="ar-SA" sz="2000" smtClean="0"/>
              <a:t>  نشر ثقافة الأكاديميات العالمية وأهمية الحصول على الشهادات الاحترافية الخاصة بها.</a:t>
            </a:r>
          </a:p>
          <a:p>
            <a:pPr lvl="1">
              <a:buClr>
                <a:srgbClr val="1FBAB3"/>
              </a:buClr>
              <a:buFont typeface="Wingdings" panose="05000000000000000000" pitchFamily="2" charset="2"/>
              <a:buChar char="Ø"/>
            </a:pPr>
            <a:r>
              <a:rPr lang="ar-SA" sz="2000" smtClean="0"/>
              <a:t>صقل مهارات المتدربين وإعطائهم الطابع الاحترافي وتدريبهم على أحدث التقنيات المطلوبة في سوق العمل.</a:t>
            </a:r>
          </a:p>
          <a:p>
            <a:pPr lvl="1">
              <a:buClr>
                <a:srgbClr val="1FBAB3"/>
              </a:buClr>
              <a:buFont typeface="Wingdings" panose="05000000000000000000" pitchFamily="2" charset="2"/>
              <a:buChar char="Ø"/>
            </a:pPr>
            <a:r>
              <a:rPr lang="ar-SA" sz="2000" smtClean="0"/>
              <a:t> رفع جودة أعضاء هيئة التدريب وفق الأسس العلمية لدى أكاديميات التدريب العالمية.</a:t>
            </a:r>
          </a:p>
          <a:p>
            <a:pPr lvl="1">
              <a:buClr>
                <a:srgbClr val="1FBAB3"/>
              </a:buClr>
              <a:buFont typeface="Wingdings" panose="05000000000000000000" pitchFamily="2" charset="2"/>
              <a:buChar char="Ø"/>
            </a:pPr>
            <a:r>
              <a:rPr lang="ar-SA" sz="2000" smtClean="0"/>
              <a:t>توفير الحقائب التدريبية لمناهج الاكاديمية وإتاحة تحميل البرامج والتطبيقات ذات العلاقة بالأكاديمية.</a:t>
            </a:r>
            <a:endParaRPr lang="en-US" sz="2000" smtClean="0"/>
          </a:p>
          <a:p>
            <a:pPr lvl="1">
              <a:buClr>
                <a:srgbClr val="1FBAB3"/>
              </a:buClr>
              <a:buFont typeface="Wingdings" panose="05000000000000000000" pitchFamily="2" charset="2"/>
              <a:buChar char="Ø"/>
            </a:pPr>
            <a:r>
              <a:rPr lang="ar-SA" sz="2000" smtClean="0"/>
              <a:t>المساهمة في تحقيق وتطبيق التدريب الذاتي في الوحدات التدريبية بالمؤسسة.</a:t>
            </a:r>
          </a:p>
          <a:p>
            <a:pPr>
              <a:buClr>
                <a:srgbClr val="1FBAB3"/>
              </a:buClr>
            </a:pPr>
            <a:endParaRPr lang="ar-SA" sz="2400" dirty="0"/>
          </a:p>
        </p:txBody>
      </p:sp>
      <p:sp>
        <p:nvSpPr>
          <p:cNvPr id="5" name="مستطيل مستدير الزوايا 4"/>
          <p:cNvSpPr/>
          <p:nvPr/>
        </p:nvSpPr>
        <p:spPr>
          <a:xfrm>
            <a:off x="7439025" y="2353541"/>
            <a:ext cx="3783675" cy="468291"/>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2400" dirty="0">
                <a:solidFill>
                  <a:schemeClr val="bg1"/>
                </a:solidFill>
                <a:latin typeface="Calibri" panose="020F0502020204030204" pitchFamily="34" charset="0"/>
                <a:cs typeface="Calibri" panose="020F0502020204030204" pitchFamily="34" charset="0"/>
              </a:rPr>
              <a:t>اهداف الأكاديميات العالمية </a:t>
            </a:r>
          </a:p>
        </p:txBody>
      </p:sp>
    </p:spTree>
    <p:extLst>
      <p:ext uri="{BB962C8B-B14F-4D97-AF65-F5344CB8AC3E}">
        <p14:creationId xmlns:p14="http://schemas.microsoft.com/office/powerpoint/2010/main" val="302269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4" name="عنصر نائب للنص 3"/>
          <p:cNvSpPr txBox="1">
            <a:spLocks/>
          </p:cNvSpPr>
          <p:nvPr/>
        </p:nvSpPr>
        <p:spPr>
          <a:xfrm>
            <a:off x="1038225" y="2725019"/>
            <a:ext cx="9792416" cy="2466108"/>
          </a:xfrm>
          <a:prstGeom prst="rect">
            <a:avLst/>
          </a:prstGeom>
          <a:noFill/>
          <a:effectLst/>
        </p:spPr>
        <p:txBody>
          <a:bodyPr vert="horz" lIns="91440" tIns="45720" rIns="91440" bIns="45720" rtlCol="1" anchor="ctr"/>
          <a:lstStyle>
            <a:defPPr>
              <a:defRPr lang="en-US"/>
            </a:defPPr>
            <a:lvl1pPr marL="0" algn="l" defTabSz="914400" rtl="1" eaLnBrk="1" latinLnBrk="0" hangingPunct="1">
              <a:defRPr sz="1200" kern="1200">
                <a:solidFill>
                  <a:schemeClr val="tx1">
                    <a:tint val="75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r>
              <a:rPr lang="ar-SA" sz="800" b="1" dirty="0" smtClean="0">
                <a:solidFill>
                  <a:srgbClr val="1FBAB3"/>
                </a:solidFill>
              </a:rPr>
              <a:t>	</a:t>
            </a:r>
          </a:p>
          <a:p>
            <a:pPr lvl="1">
              <a:buClr>
                <a:srgbClr val="1FBAB3"/>
              </a:buClr>
              <a:buFont typeface="Wingdings" panose="05000000000000000000" pitchFamily="2" charset="2"/>
              <a:buChar char="Ø"/>
            </a:pPr>
            <a:r>
              <a:rPr lang="ar-SA" sz="2000" dirty="0" smtClean="0"/>
              <a:t>تقدم الأكاديميات العالمية للمتدربين والمتدربات المسجلين بها عدد من الخصومات على قسائم الاختبارات بالإضافة لتوفير تنفيذ الاختبارات بمراكز الاختبارات بالمنشآت التدريبية.</a:t>
            </a:r>
          </a:p>
          <a:p>
            <a:pPr lvl="1">
              <a:buClr>
                <a:srgbClr val="1FBAB3"/>
              </a:buClr>
              <a:buFont typeface="Wingdings" panose="05000000000000000000" pitchFamily="2" charset="2"/>
              <a:buChar char="Ø"/>
            </a:pPr>
            <a:r>
              <a:rPr lang="ar-SA" sz="2000" dirty="0" smtClean="0"/>
              <a:t>يعوض المتدربين والمتدربات المجتازين لاختبارات الشهادات الاحترافية من قبل صندوق تنمية الموارد البشرية (هدف) ويمكن الاطلاع على الشهادات المعتمدة من خلال زيارة الموقع الالكتروني</a:t>
            </a:r>
          </a:p>
          <a:p>
            <a:pPr lvl="1" algn="ctr">
              <a:buClr>
                <a:srgbClr val="1FBAB3"/>
              </a:buClr>
            </a:pPr>
            <a:r>
              <a:rPr lang="ar-SA" sz="2000" dirty="0" smtClean="0"/>
              <a:t> </a:t>
            </a:r>
            <a:r>
              <a:rPr lang="en-US" sz="2000" dirty="0">
                <a:hlinkClick r:id="rId3"/>
              </a:rPr>
              <a:t>http://certigate.sa</a:t>
            </a:r>
            <a:endParaRPr lang="ar-SA" sz="2000" dirty="0"/>
          </a:p>
          <a:p>
            <a:pPr lvl="1">
              <a:buClr>
                <a:srgbClr val="1FBAB3"/>
              </a:buClr>
            </a:pPr>
            <a:endParaRPr lang="ar-SA" sz="2000" dirty="0" smtClean="0"/>
          </a:p>
          <a:p>
            <a:pPr>
              <a:buClr>
                <a:srgbClr val="1FBAB3"/>
              </a:buClr>
            </a:pPr>
            <a:endParaRPr lang="ar-SA" sz="2400" dirty="0"/>
          </a:p>
        </p:txBody>
      </p:sp>
      <p:sp>
        <p:nvSpPr>
          <p:cNvPr id="5" name="مستطيل مستدير الزوايا 4"/>
          <p:cNvSpPr/>
          <p:nvPr/>
        </p:nvSpPr>
        <p:spPr>
          <a:xfrm>
            <a:off x="4508939" y="2353541"/>
            <a:ext cx="6713762" cy="468291"/>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2400" dirty="0" smtClean="0">
                <a:solidFill>
                  <a:schemeClr val="bg1"/>
                </a:solidFill>
                <a:latin typeface="Calibri" panose="020F0502020204030204" pitchFamily="34" charset="0"/>
                <a:cs typeface="Calibri" panose="020F0502020204030204" pitchFamily="34" charset="0"/>
              </a:rPr>
              <a:t>الدعم المقدم للمتدربين والمتدربات لنيل الشهادات الاحترافية</a:t>
            </a:r>
            <a:endParaRPr lang="ar-SA" sz="24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943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4" name="عنصر نائب للنص 3"/>
          <p:cNvSpPr txBox="1">
            <a:spLocks/>
          </p:cNvSpPr>
          <p:nvPr/>
        </p:nvSpPr>
        <p:spPr>
          <a:xfrm>
            <a:off x="2809875" y="2725019"/>
            <a:ext cx="7563567" cy="2466108"/>
          </a:xfrm>
          <a:prstGeom prst="rect">
            <a:avLst/>
          </a:prstGeom>
          <a:noFill/>
          <a:effectLst/>
        </p:spPr>
        <p:txBody>
          <a:bodyPr vert="horz" lIns="91440" tIns="45720" rIns="91440" bIns="45720" rtlCol="1" anchor="ctr"/>
          <a:lstStyle>
            <a:defPPr>
              <a:defRPr lang="en-US"/>
            </a:defPPr>
            <a:lvl1pPr marL="0" algn="l" defTabSz="914400" rtl="1" eaLnBrk="1" latinLnBrk="0" hangingPunct="1">
              <a:defRPr sz="1200" kern="1200">
                <a:solidFill>
                  <a:schemeClr val="tx1">
                    <a:tint val="75000"/>
                  </a:schemeClr>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r>
              <a:rPr lang="ar-SA" sz="800" b="1" smtClean="0">
                <a:solidFill>
                  <a:srgbClr val="1FBAB3"/>
                </a:solidFill>
              </a:rPr>
              <a:t>	</a:t>
            </a:r>
          </a:p>
          <a:p>
            <a:pPr lvl="1">
              <a:buClr>
                <a:srgbClr val="1FBAB3"/>
              </a:buClr>
              <a:buFont typeface="Wingdings" panose="05000000000000000000" pitchFamily="2" charset="2"/>
              <a:buChar char="Ø"/>
            </a:pPr>
            <a:r>
              <a:rPr lang="ar-SA" sz="2000" smtClean="0"/>
              <a:t>اكاديمية مايكروسوفت العالمية </a:t>
            </a:r>
            <a:r>
              <a:rPr lang="en-US" sz="2000" smtClean="0"/>
              <a:t>Microsoft</a:t>
            </a:r>
          </a:p>
          <a:p>
            <a:pPr lvl="1">
              <a:buClr>
                <a:srgbClr val="1FBAB3"/>
              </a:buClr>
              <a:buFont typeface="Wingdings" panose="05000000000000000000" pitchFamily="2" charset="2"/>
              <a:buChar char="Ø"/>
            </a:pPr>
            <a:r>
              <a:rPr lang="en-US" sz="2000" smtClean="0"/>
              <a:t> </a:t>
            </a:r>
            <a:r>
              <a:rPr lang="ar-SA" sz="2000" smtClean="0"/>
              <a:t>اكاديمية سيسكو العالمية</a:t>
            </a:r>
            <a:r>
              <a:rPr lang="en-US" sz="2000" smtClean="0"/>
              <a:t>CISCO </a:t>
            </a:r>
          </a:p>
          <a:p>
            <a:pPr lvl="1">
              <a:buClr>
                <a:srgbClr val="1FBAB3"/>
              </a:buClr>
              <a:buFont typeface="Wingdings" panose="05000000000000000000" pitchFamily="2" charset="2"/>
              <a:buChar char="Ø"/>
            </a:pPr>
            <a:r>
              <a:rPr lang="en-US" sz="2000" smtClean="0"/>
              <a:t>  </a:t>
            </a:r>
            <a:r>
              <a:rPr lang="ar-SA" sz="2000" smtClean="0"/>
              <a:t>اكاديمية أدوبي العالمية</a:t>
            </a:r>
            <a:r>
              <a:rPr lang="en-US" sz="2000" smtClean="0"/>
              <a:t>Adobe </a:t>
            </a:r>
          </a:p>
          <a:p>
            <a:pPr lvl="1">
              <a:buClr>
                <a:srgbClr val="1FBAB3"/>
              </a:buClr>
              <a:buFont typeface="Wingdings" panose="05000000000000000000" pitchFamily="2" charset="2"/>
              <a:buChar char="Ø"/>
            </a:pPr>
            <a:r>
              <a:rPr lang="en-US" sz="2000" smtClean="0"/>
              <a:t>  </a:t>
            </a:r>
            <a:r>
              <a:rPr lang="ar-SA" sz="2000" smtClean="0"/>
              <a:t>اكاديمية اوراكل العالمية </a:t>
            </a:r>
            <a:r>
              <a:rPr lang="en-US" sz="2000" smtClean="0"/>
              <a:t>ORACLE</a:t>
            </a:r>
          </a:p>
          <a:p>
            <a:pPr lvl="1">
              <a:buClr>
                <a:srgbClr val="1FBAB3"/>
              </a:buClr>
              <a:buFont typeface="Wingdings" panose="05000000000000000000" pitchFamily="2" charset="2"/>
              <a:buChar char="Ø"/>
            </a:pPr>
            <a:r>
              <a:rPr lang="en-US" sz="2000" smtClean="0"/>
              <a:t>  </a:t>
            </a:r>
            <a:r>
              <a:rPr lang="ar-SA" sz="2000" smtClean="0"/>
              <a:t>اكاديمية ساب العالمية </a:t>
            </a:r>
            <a:r>
              <a:rPr lang="en-US" sz="2000" smtClean="0"/>
              <a:t>SAP</a:t>
            </a:r>
          </a:p>
          <a:p>
            <a:pPr lvl="1">
              <a:buClr>
                <a:srgbClr val="1FBAB3"/>
              </a:buClr>
              <a:buFont typeface="Wingdings" panose="05000000000000000000" pitchFamily="2" charset="2"/>
              <a:buChar char="Ø"/>
            </a:pPr>
            <a:r>
              <a:rPr lang="en-US" sz="2000" smtClean="0"/>
              <a:t>  </a:t>
            </a:r>
            <a:r>
              <a:rPr lang="ar-SA" sz="2000" smtClean="0"/>
              <a:t>اكاديمية هواوي العالمية </a:t>
            </a:r>
            <a:r>
              <a:rPr lang="en-US" sz="2000" smtClean="0"/>
              <a:t>HUAWEI</a:t>
            </a:r>
          </a:p>
          <a:p>
            <a:pPr>
              <a:buClr>
                <a:srgbClr val="1FBAB3"/>
              </a:buClr>
            </a:pPr>
            <a:endParaRPr lang="ar-SA" sz="2400" dirty="0"/>
          </a:p>
        </p:txBody>
      </p:sp>
      <p:sp>
        <p:nvSpPr>
          <p:cNvPr id="5" name="مستطيل مستدير الزوايا 4"/>
          <p:cNvSpPr/>
          <p:nvPr/>
        </p:nvSpPr>
        <p:spPr>
          <a:xfrm>
            <a:off x="6696076" y="2353541"/>
            <a:ext cx="4526624" cy="468291"/>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2400" dirty="0">
                <a:solidFill>
                  <a:schemeClr val="bg1"/>
                </a:solidFill>
                <a:latin typeface="Calibri" panose="020F0502020204030204" pitchFamily="34" charset="0"/>
                <a:cs typeface="Calibri" panose="020F0502020204030204" pitchFamily="34" charset="0"/>
              </a:rPr>
              <a:t>الأكاديميات العالمية المتاحة في المؤسسة </a:t>
            </a:r>
          </a:p>
        </p:txBody>
      </p:sp>
      <p:pic>
        <p:nvPicPr>
          <p:cNvPr id="6" name="صورة 5"/>
          <p:cNvPicPr>
            <a:picLocks noChangeAspect="1"/>
          </p:cNvPicPr>
          <p:nvPr/>
        </p:nvPicPr>
        <p:blipFill>
          <a:blip r:embed="rId3"/>
          <a:stretch>
            <a:fillRect/>
          </a:stretch>
        </p:blipFill>
        <p:spPr>
          <a:xfrm>
            <a:off x="101306" y="2353541"/>
            <a:ext cx="6214824" cy="3018293"/>
          </a:xfrm>
          <a:prstGeom prst="rect">
            <a:avLst/>
          </a:prstGeom>
        </p:spPr>
      </p:pic>
    </p:spTree>
    <p:extLst>
      <p:ext uri="{BB962C8B-B14F-4D97-AF65-F5344CB8AC3E}">
        <p14:creationId xmlns:p14="http://schemas.microsoft.com/office/powerpoint/2010/main" val="3957756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5" name="مستطيل مستدير الزوايا 4"/>
          <p:cNvSpPr/>
          <p:nvPr/>
        </p:nvSpPr>
        <p:spPr>
          <a:xfrm>
            <a:off x="5238751" y="2021801"/>
            <a:ext cx="5114924" cy="616825"/>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ar-SA" sz="2400" dirty="0">
                <a:solidFill>
                  <a:schemeClr val="bg1"/>
                </a:solidFill>
                <a:latin typeface="Calibri" panose="020F0502020204030204" pitchFamily="34" charset="0"/>
                <a:cs typeface="Calibri" panose="020F0502020204030204" pitchFamily="34" charset="0"/>
              </a:rPr>
              <a:t> اكاديمية مايكروسوفت العالمية</a:t>
            </a:r>
            <a:endParaRPr lang="ar-SA" sz="2400" dirty="0">
              <a:solidFill>
                <a:schemeClr val="bg1"/>
              </a:solidFill>
            </a:endParaRPr>
          </a:p>
        </p:txBody>
      </p:sp>
      <p:sp>
        <p:nvSpPr>
          <p:cNvPr id="6" name="مستطيل مستدير الزوايا 5"/>
          <p:cNvSpPr/>
          <p:nvPr/>
        </p:nvSpPr>
        <p:spPr>
          <a:xfrm>
            <a:off x="1519729" y="4800506"/>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7" name="مستطيل مستدير الزوايا 6"/>
          <p:cNvSpPr/>
          <p:nvPr/>
        </p:nvSpPr>
        <p:spPr>
          <a:xfrm>
            <a:off x="7981312" y="5006926"/>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الشهادات الاحترافية</a:t>
            </a:r>
            <a:endParaRPr lang="ar-SA" dirty="0">
              <a:solidFill>
                <a:schemeClr val="bg1"/>
              </a:solidFill>
            </a:endParaRPr>
          </a:p>
        </p:txBody>
      </p:sp>
      <p:sp>
        <p:nvSpPr>
          <p:cNvPr id="8" name="مستطيل 7"/>
          <p:cNvSpPr/>
          <p:nvPr/>
        </p:nvSpPr>
        <p:spPr>
          <a:xfrm>
            <a:off x="1788047" y="4922240"/>
            <a:ext cx="6096000" cy="584775"/>
          </a:xfrm>
          <a:prstGeom prst="rect">
            <a:avLst/>
          </a:prstGeom>
        </p:spPr>
        <p:txBody>
          <a:bodyPr>
            <a:spAutoFit/>
          </a:bodyPr>
          <a:lstStyle/>
          <a:p>
            <a:pPr lvl="0" algn="ctr"/>
            <a:r>
              <a:rPr lang="ar-SA" sz="1600" dirty="0">
                <a:solidFill>
                  <a:schemeClr val="bg1">
                    <a:lumMod val="50000"/>
                  </a:schemeClr>
                </a:solidFill>
                <a:latin typeface="Calibri" panose="020F0502020204030204" pitchFamily="34" charset="0"/>
                <a:cs typeface="Calibri" panose="020F0502020204030204" pitchFamily="34" charset="0"/>
              </a:rPr>
              <a:t>من أشهر الشهادات </a:t>
            </a:r>
            <a:r>
              <a:rPr lang="en-US" sz="1600" dirty="0">
                <a:solidFill>
                  <a:schemeClr val="bg1">
                    <a:lumMod val="50000"/>
                  </a:schemeClr>
                </a:solidFill>
                <a:latin typeface="Calibri" panose="020F0502020204030204" pitchFamily="34" charset="0"/>
                <a:cs typeface="Calibri" panose="020F0502020204030204" pitchFamily="34" charset="0"/>
              </a:rPr>
              <a:t>: Microsoft Office Specialist ‏MOS</a:t>
            </a:r>
            <a:r>
              <a:rPr lang="ar-SA" sz="1600" dirty="0">
                <a:solidFill>
                  <a:schemeClr val="bg1">
                    <a:lumMod val="50000"/>
                  </a:schemeClr>
                </a:solidFill>
                <a:latin typeface="Calibri" panose="020F0502020204030204" pitchFamily="34" charset="0"/>
                <a:cs typeface="Calibri" panose="020F0502020204030204" pitchFamily="34" charset="0"/>
              </a:rPr>
              <a:t> وللاطلاع على كافة الشهادات</a:t>
            </a:r>
          </a:p>
          <a:p>
            <a:pPr lvl="0" algn="ctr"/>
            <a:r>
              <a:rPr lang="en-US" sz="1600" dirty="0">
                <a:solidFill>
                  <a:schemeClr val="bg1">
                    <a:lumMod val="50000"/>
                  </a:schemeClr>
                </a:solidFill>
                <a:latin typeface="Calibri" panose="020F0502020204030204" pitchFamily="34" charset="0"/>
                <a:cs typeface="Calibri" panose="020F0502020204030204" pitchFamily="34" charset="0"/>
                <a:hlinkClick r:id="rId3"/>
              </a:rPr>
              <a:t>https://docs.microsoft.com/ar-sa/learn/certifications/browse/</a:t>
            </a:r>
            <a:endParaRPr lang="en-US" sz="1600" dirty="0">
              <a:solidFill>
                <a:schemeClr val="bg1">
                  <a:lumMod val="50000"/>
                </a:schemeClr>
              </a:solidFill>
              <a:latin typeface="Calibri" panose="020F0502020204030204" pitchFamily="34" charset="0"/>
              <a:cs typeface="Calibri" panose="020F0502020204030204" pitchFamily="34" charset="0"/>
            </a:endParaRPr>
          </a:p>
        </p:txBody>
      </p:sp>
      <p:sp>
        <p:nvSpPr>
          <p:cNvPr id="9" name="مستطيل مستدير الزوايا 8"/>
          <p:cNvSpPr/>
          <p:nvPr/>
        </p:nvSpPr>
        <p:spPr>
          <a:xfrm>
            <a:off x="1519729" y="3838794"/>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10" name="مستطيل مستدير الزوايا 9"/>
          <p:cNvSpPr/>
          <p:nvPr/>
        </p:nvSpPr>
        <p:spPr>
          <a:xfrm>
            <a:off x="7987204" y="4044790"/>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التخصصات المتوافقة</a:t>
            </a:r>
            <a:endParaRPr lang="ar-SA" dirty="0">
              <a:solidFill>
                <a:schemeClr val="bg1"/>
              </a:solidFill>
            </a:endParaRPr>
          </a:p>
        </p:txBody>
      </p:sp>
      <p:sp>
        <p:nvSpPr>
          <p:cNvPr id="11" name="مستطيل 10"/>
          <p:cNvSpPr/>
          <p:nvPr/>
        </p:nvSpPr>
        <p:spPr>
          <a:xfrm>
            <a:off x="1610215" y="3838793"/>
            <a:ext cx="6340507" cy="830997"/>
          </a:xfrm>
          <a:prstGeom prst="rect">
            <a:avLst/>
          </a:prstGeom>
        </p:spPr>
        <p:txBody>
          <a:bodyPr wrap="square">
            <a:spAutoFit/>
          </a:bodyPr>
          <a:lstStyle/>
          <a:p>
            <a:pPr lvl="0" algn="ctr"/>
            <a:r>
              <a:rPr lang="ar-SA" sz="1600" dirty="0">
                <a:solidFill>
                  <a:schemeClr val="bg1">
                    <a:lumMod val="50000"/>
                  </a:schemeClr>
                </a:solidFill>
                <a:latin typeface="Calibri" panose="020F0502020204030204" pitchFamily="34" charset="0"/>
                <a:cs typeface="Calibri" panose="020F0502020204030204" pitchFamily="34" charset="0"/>
              </a:rPr>
              <a:t>مقرر مقدمة تطبيقات الحاسب - مقرر تطبيقات الحاسب المتقدمة</a:t>
            </a:r>
          </a:p>
          <a:p>
            <a:pPr lvl="0" algn="ctr"/>
            <a:r>
              <a:rPr lang="ar-SA" sz="1600" dirty="0" err="1">
                <a:solidFill>
                  <a:schemeClr val="bg1">
                    <a:lumMod val="50000"/>
                  </a:schemeClr>
                </a:solidFill>
                <a:latin typeface="Calibri" panose="020F0502020204030204" pitchFamily="34" charset="0"/>
                <a:cs typeface="Calibri" panose="020F0502020204030204" pitchFamily="34" charset="0"/>
              </a:rPr>
              <a:t>دبلومات</a:t>
            </a:r>
            <a:r>
              <a:rPr lang="ar-SA" sz="1600" dirty="0">
                <a:solidFill>
                  <a:schemeClr val="bg1">
                    <a:lumMod val="50000"/>
                  </a:schemeClr>
                </a:solidFill>
                <a:latin typeface="Calibri" panose="020F0502020204030204" pitchFamily="34" charset="0"/>
                <a:cs typeface="Calibri" panose="020F0502020204030204" pitchFamily="34" charset="0"/>
              </a:rPr>
              <a:t> : (الدعم الفني- البرمجيات-الوسائط المتعددة-شبكات الحاسب-إدارة انظمة الشبكات)</a:t>
            </a:r>
          </a:p>
          <a:p>
            <a:pPr lvl="0" algn="ctr"/>
            <a:r>
              <a:rPr lang="ar-SA" sz="1600" dirty="0">
                <a:solidFill>
                  <a:schemeClr val="bg1">
                    <a:lumMod val="50000"/>
                  </a:schemeClr>
                </a:solidFill>
                <a:latin typeface="Calibri" panose="020F0502020204030204" pitchFamily="34" charset="0"/>
                <a:cs typeface="Calibri" panose="020F0502020204030204" pitchFamily="34" charset="0"/>
              </a:rPr>
              <a:t>بكالوريوس دعم أنظمة شبكات الحاسب</a:t>
            </a:r>
          </a:p>
        </p:txBody>
      </p:sp>
      <p:sp>
        <p:nvSpPr>
          <p:cNvPr id="12" name="مستطيل مستدير الزوايا 11"/>
          <p:cNvSpPr/>
          <p:nvPr/>
        </p:nvSpPr>
        <p:spPr>
          <a:xfrm>
            <a:off x="1519729" y="2877082"/>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13" name="مستطيل مستدير الزوايا 12"/>
          <p:cNvSpPr/>
          <p:nvPr/>
        </p:nvSpPr>
        <p:spPr>
          <a:xfrm>
            <a:off x="7950722" y="3067874"/>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مجال الاكاديمية</a:t>
            </a:r>
            <a:endParaRPr lang="ar-SA" dirty="0">
              <a:solidFill>
                <a:schemeClr val="bg1"/>
              </a:solidFill>
            </a:endParaRPr>
          </a:p>
        </p:txBody>
      </p:sp>
      <p:sp>
        <p:nvSpPr>
          <p:cNvPr id="14" name="مستطيل 13"/>
          <p:cNvSpPr/>
          <p:nvPr/>
        </p:nvSpPr>
        <p:spPr>
          <a:xfrm>
            <a:off x="1788047" y="3011369"/>
            <a:ext cx="6096000" cy="584775"/>
          </a:xfrm>
          <a:prstGeom prst="rect">
            <a:avLst/>
          </a:prstGeom>
        </p:spPr>
        <p:txBody>
          <a:bodyPr>
            <a:spAutoFit/>
          </a:bodyPr>
          <a:lstStyle/>
          <a:p>
            <a:pPr algn="ctr"/>
            <a:r>
              <a:rPr lang="ar-SA" sz="1600" dirty="0">
                <a:solidFill>
                  <a:schemeClr val="bg1">
                    <a:lumMod val="50000"/>
                  </a:schemeClr>
                </a:solidFill>
                <a:latin typeface="Calibri" panose="020F0502020204030204" pitchFamily="34" charset="0"/>
                <a:cs typeface="Calibri" panose="020F0502020204030204" pitchFamily="34" charset="0"/>
              </a:rPr>
              <a:t>مجال الحاسب الآلي بشكل عام و مجال منتجات وأنظمة شركة مايكروسوفت بشكل خاص ومن أشهر تلك المنتجات حزمة برامج مايكروسوفت اوفيس </a:t>
            </a:r>
            <a:r>
              <a:rPr lang="en-US" sz="1600" dirty="0">
                <a:solidFill>
                  <a:schemeClr val="bg1">
                    <a:lumMod val="50000"/>
                  </a:schemeClr>
                </a:solidFill>
                <a:latin typeface="Calibri" panose="020F0502020204030204" pitchFamily="34" charset="0"/>
                <a:cs typeface="Calibri" panose="020F0502020204030204" pitchFamily="34" charset="0"/>
              </a:rPr>
              <a:t>Microsoft Office</a:t>
            </a:r>
            <a:endParaRPr lang="ar-SA" sz="1600" dirty="0">
              <a:solidFill>
                <a:schemeClr val="bg1">
                  <a:lumMod val="50000"/>
                </a:schemeClr>
              </a:solidFill>
              <a:latin typeface="Calibri" panose="020F0502020204030204" pitchFamily="34" charset="0"/>
              <a:cs typeface="Calibri" panose="020F0502020204030204" pitchFamily="34" charset="0"/>
            </a:endParaRPr>
          </a:p>
        </p:txBody>
      </p:sp>
      <p:pic>
        <p:nvPicPr>
          <p:cNvPr id="15" name="صورة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10226" y="2118757"/>
            <a:ext cx="1304924" cy="426065"/>
          </a:xfrm>
          <a:prstGeom prst="rect">
            <a:avLst/>
          </a:prstGeom>
        </p:spPr>
      </p:pic>
    </p:spTree>
    <p:extLst>
      <p:ext uri="{BB962C8B-B14F-4D97-AF65-F5344CB8AC3E}">
        <p14:creationId xmlns:p14="http://schemas.microsoft.com/office/powerpoint/2010/main" val="1343559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animBg="1"/>
      <p:bldP spid="10" grpId="0" animBg="1"/>
      <p:bldP spid="11" grpId="0"/>
      <p:bldP spid="12" grpId="0" animBg="1"/>
      <p:bldP spid="13" grpId="0" animBg="1"/>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4" name="مستطيل مستدير الزوايا 3"/>
          <p:cNvSpPr/>
          <p:nvPr/>
        </p:nvSpPr>
        <p:spPr>
          <a:xfrm>
            <a:off x="5238751" y="2021801"/>
            <a:ext cx="5114924" cy="616825"/>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defTabSz="914377">
              <a:defRPr/>
            </a:pPr>
            <a:r>
              <a:rPr lang="ar-SA" sz="2400" dirty="0">
                <a:solidFill>
                  <a:prstClr val="white"/>
                </a:solidFill>
                <a:latin typeface="Calibri" panose="020F0502020204030204" pitchFamily="34" charset="0"/>
                <a:cs typeface="Calibri" panose="020F0502020204030204" pitchFamily="34" charset="0"/>
              </a:rPr>
              <a:t> اكاديمية سيسكو العالمية</a:t>
            </a:r>
            <a:endParaRPr lang="ar-SA" sz="2400" dirty="0">
              <a:solidFill>
                <a:prstClr val="white"/>
              </a:solidFill>
              <a:latin typeface="Calibri" panose="020F0502020204030204"/>
              <a:cs typeface="Arial" panose="020B0604020202020204" pitchFamily="34" charset="0"/>
            </a:endParaRPr>
          </a:p>
        </p:txBody>
      </p:sp>
      <p:sp>
        <p:nvSpPr>
          <p:cNvPr id="5" name="مستطيل مستدير الزوايا 4"/>
          <p:cNvSpPr/>
          <p:nvPr/>
        </p:nvSpPr>
        <p:spPr>
          <a:xfrm>
            <a:off x="1519729" y="4800506"/>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defTabSz="914377">
              <a:defRPr/>
            </a:pPr>
            <a:endParaRPr lang="ar-SA" sz="1600" b="1" dirty="0">
              <a:solidFill>
                <a:prstClr val="white">
                  <a:lumMod val="50000"/>
                </a:prstClr>
              </a:solidFill>
              <a:latin typeface="Calibri" panose="020F0502020204030204" pitchFamily="34" charset="0"/>
              <a:cs typeface="Calibri" panose="020F0502020204030204" pitchFamily="34" charset="0"/>
            </a:endParaRPr>
          </a:p>
        </p:txBody>
      </p:sp>
      <p:sp>
        <p:nvSpPr>
          <p:cNvPr id="6" name="مستطيل مستدير الزوايا 5"/>
          <p:cNvSpPr/>
          <p:nvPr/>
        </p:nvSpPr>
        <p:spPr>
          <a:xfrm>
            <a:off x="7981312" y="5006926"/>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defTabSz="914377">
              <a:defRPr/>
            </a:pPr>
            <a:r>
              <a:rPr lang="ar-SA" dirty="0">
                <a:solidFill>
                  <a:prstClr val="white"/>
                </a:solidFill>
                <a:latin typeface="Calibri" panose="020F0502020204030204" pitchFamily="34" charset="0"/>
                <a:cs typeface="Calibri" panose="020F0502020204030204" pitchFamily="34" charset="0"/>
              </a:rPr>
              <a:t>الشهادات الاحترافية</a:t>
            </a:r>
            <a:endParaRPr lang="ar-SA" dirty="0">
              <a:solidFill>
                <a:prstClr val="white"/>
              </a:solidFill>
              <a:latin typeface="Calibri" panose="020F0502020204030204"/>
              <a:cs typeface="Arial" panose="020B0604020202020204" pitchFamily="34" charset="0"/>
            </a:endParaRPr>
          </a:p>
        </p:txBody>
      </p:sp>
      <p:sp>
        <p:nvSpPr>
          <p:cNvPr id="7" name="مستطيل 6"/>
          <p:cNvSpPr/>
          <p:nvPr/>
        </p:nvSpPr>
        <p:spPr>
          <a:xfrm>
            <a:off x="1400177" y="4922241"/>
            <a:ext cx="6864871" cy="584775"/>
          </a:xfrm>
          <a:prstGeom prst="rect">
            <a:avLst/>
          </a:prstGeom>
        </p:spPr>
        <p:txBody>
          <a:bodyPr wrap="square">
            <a:spAutoFit/>
          </a:bodyPr>
          <a:lstStyle/>
          <a:p>
            <a:pPr lvl="0" algn="ctr"/>
            <a:r>
              <a:rPr lang="ar-SA" sz="1600" dirty="0">
                <a:solidFill>
                  <a:prstClr val="white">
                    <a:lumMod val="50000"/>
                  </a:prstClr>
                </a:solidFill>
                <a:latin typeface="Calibri" panose="020F0502020204030204" pitchFamily="34" charset="0"/>
                <a:cs typeface="Calibri" panose="020F0502020204030204" pitchFamily="34" charset="0"/>
              </a:rPr>
              <a:t>من أشهر الشهادات </a:t>
            </a:r>
            <a:r>
              <a:rPr lang="en-US" sz="1600" dirty="0" err="1">
                <a:solidFill>
                  <a:prstClr val="white">
                    <a:lumMod val="50000"/>
                  </a:prstClr>
                </a:solidFill>
                <a:latin typeface="Calibri" panose="020F0502020204030204" pitchFamily="34" charset="0"/>
                <a:cs typeface="Calibri" panose="020F0502020204030204" pitchFamily="34" charset="0"/>
              </a:rPr>
              <a:t>CCNA:Cisco</a:t>
            </a:r>
            <a:r>
              <a:rPr lang="en-US" sz="1600" dirty="0">
                <a:solidFill>
                  <a:prstClr val="white">
                    <a:lumMod val="50000"/>
                  </a:prstClr>
                </a:solidFill>
                <a:latin typeface="Calibri" panose="020F0502020204030204" pitchFamily="34" charset="0"/>
                <a:cs typeface="Calibri" panose="020F0502020204030204" pitchFamily="34" charset="0"/>
              </a:rPr>
              <a:t> Certified Network Associate</a:t>
            </a:r>
            <a:r>
              <a:rPr lang="ar-SA" sz="1600" dirty="0">
                <a:solidFill>
                  <a:prstClr val="white">
                    <a:lumMod val="50000"/>
                  </a:prstClr>
                </a:solidFill>
                <a:latin typeface="Calibri" panose="020F0502020204030204" pitchFamily="34" charset="0"/>
                <a:cs typeface="Calibri" panose="020F0502020204030204" pitchFamily="34" charset="0"/>
              </a:rPr>
              <a:t> وللاطلاع على كافة الشهادات</a:t>
            </a:r>
          </a:p>
          <a:p>
            <a:pPr lvl="0" algn="ctr"/>
            <a:r>
              <a:rPr lang="en-US" sz="1600" dirty="0">
                <a:solidFill>
                  <a:prstClr val="white">
                    <a:lumMod val="50000"/>
                  </a:prstClr>
                </a:solidFill>
                <a:latin typeface="Calibri" panose="020F0502020204030204" pitchFamily="34" charset="0"/>
                <a:cs typeface="Calibri" panose="020F0502020204030204" pitchFamily="34" charset="0"/>
                <a:hlinkClick r:id="rId3"/>
              </a:rPr>
              <a:t>https://learningnetwork.cisco.com/s/certifications</a:t>
            </a:r>
            <a:endParaRPr lang="en-US" sz="1600" dirty="0">
              <a:solidFill>
                <a:prstClr val="white">
                  <a:lumMod val="50000"/>
                </a:prstClr>
              </a:solidFill>
              <a:latin typeface="Calibri" panose="020F0502020204030204" pitchFamily="34" charset="0"/>
              <a:cs typeface="Calibri" panose="020F0502020204030204" pitchFamily="34" charset="0"/>
            </a:endParaRPr>
          </a:p>
        </p:txBody>
      </p:sp>
      <p:sp>
        <p:nvSpPr>
          <p:cNvPr id="8" name="مستطيل مستدير الزوايا 7"/>
          <p:cNvSpPr/>
          <p:nvPr/>
        </p:nvSpPr>
        <p:spPr>
          <a:xfrm>
            <a:off x="1519729" y="3838794"/>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defTabSz="914377">
              <a:defRPr/>
            </a:pPr>
            <a:endParaRPr lang="ar-SA" sz="1600" b="1" dirty="0">
              <a:solidFill>
                <a:prstClr val="white">
                  <a:lumMod val="50000"/>
                </a:prstClr>
              </a:solidFill>
              <a:latin typeface="Calibri" panose="020F0502020204030204" pitchFamily="34" charset="0"/>
              <a:cs typeface="Calibri" panose="020F0502020204030204" pitchFamily="34" charset="0"/>
            </a:endParaRPr>
          </a:p>
        </p:txBody>
      </p:sp>
      <p:sp>
        <p:nvSpPr>
          <p:cNvPr id="9" name="مستطيل مستدير الزوايا 8"/>
          <p:cNvSpPr/>
          <p:nvPr/>
        </p:nvSpPr>
        <p:spPr>
          <a:xfrm>
            <a:off x="7987204" y="4044790"/>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defTabSz="914377">
              <a:defRPr/>
            </a:pPr>
            <a:r>
              <a:rPr lang="ar-SA" dirty="0">
                <a:solidFill>
                  <a:prstClr val="white"/>
                </a:solidFill>
                <a:latin typeface="Calibri" panose="020F0502020204030204" pitchFamily="34" charset="0"/>
                <a:cs typeface="Calibri" panose="020F0502020204030204" pitchFamily="34" charset="0"/>
              </a:rPr>
              <a:t>التخصصات المتوافقة</a:t>
            </a:r>
            <a:endParaRPr lang="ar-SA" dirty="0">
              <a:solidFill>
                <a:prstClr val="white"/>
              </a:solidFill>
              <a:latin typeface="Calibri" panose="020F0502020204030204"/>
              <a:cs typeface="Arial" panose="020B0604020202020204" pitchFamily="34" charset="0"/>
            </a:endParaRPr>
          </a:p>
        </p:txBody>
      </p:sp>
      <p:sp>
        <p:nvSpPr>
          <p:cNvPr id="10" name="مستطيل 9"/>
          <p:cNvSpPr/>
          <p:nvPr/>
        </p:nvSpPr>
        <p:spPr>
          <a:xfrm>
            <a:off x="1610215" y="3838793"/>
            <a:ext cx="6340507" cy="830997"/>
          </a:xfrm>
          <a:prstGeom prst="rect">
            <a:avLst/>
          </a:prstGeom>
        </p:spPr>
        <p:txBody>
          <a:bodyPr wrap="square">
            <a:spAutoFit/>
          </a:bodyPr>
          <a:lstStyle/>
          <a:p>
            <a:pPr lvl="0" algn="ctr"/>
            <a:r>
              <a:rPr lang="ar-SA" sz="1600" dirty="0" err="1">
                <a:solidFill>
                  <a:prstClr val="white">
                    <a:lumMod val="50000"/>
                  </a:prstClr>
                </a:solidFill>
                <a:latin typeface="Calibri" panose="020F0502020204030204" pitchFamily="34" charset="0"/>
                <a:cs typeface="Calibri" panose="020F0502020204030204" pitchFamily="34" charset="0"/>
              </a:rPr>
              <a:t>دبلومات</a:t>
            </a:r>
            <a:r>
              <a:rPr lang="ar-SA" sz="1600" dirty="0">
                <a:solidFill>
                  <a:prstClr val="white">
                    <a:lumMod val="50000"/>
                  </a:prstClr>
                </a:solidFill>
                <a:latin typeface="Calibri" panose="020F0502020204030204" pitchFamily="34" charset="0"/>
                <a:cs typeface="Calibri" panose="020F0502020204030204" pitchFamily="34" charset="0"/>
              </a:rPr>
              <a:t> :( إدارة انظمة الشبكات-الشبكات-الدعم الفني-البرمجيات)</a:t>
            </a:r>
          </a:p>
          <a:p>
            <a:pPr lvl="0" algn="ctr"/>
            <a:r>
              <a:rPr lang="ar-SA" sz="1600" dirty="0">
                <a:solidFill>
                  <a:prstClr val="white">
                    <a:lumMod val="50000"/>
                  </a:prstClr>
                </a:solidFill>
                <a:latin typeface="Calibri" panose="020F0502020204030204" pitchFamily="34" charset="0"/>
                <a:cs typeface="Calibri" panose="020F0502020204030204" pitchFamily="34" charset="0"/>
              </a:rPr>
              <a:t>دبلوم الحاسب الآلي للمعاهد الصناعية الثانوية ومعاهد العمارة والتشييد</a:t>
            </a:r>
          </a:p>
          <a:p>
            <a:pPr lvl="0" algn="ctr"/>
            <a:r>
              <a:rPr lang="ar-SA" sz="1600" dirty="0">
                <a:solidFill>
                  <a:prstClr val="white">
                    <a:lumMod val="50000"/>
                  </a:prstClr>
                </a:solidFill>
                <a:latin typeface="Calibri" panose="020F0502020204030204" pitchFamily="34" charset="0"/>
                <a:cs typeface="Calibri" panose="020F0502020204030204" pitchFamily="34" charset="0"/>
              </a:rPr>
              <a:t>كافة تخصصات الدبلوم: مقرر التوجيه المهني</a:t>
            </a:r>
          </a:p>
        </p:txBody>
      </p:sp>
      <p:sp>
        <p:nvSpPr>
          <p:cNvPr id="11" name="مستطيل مستدير الزوايا 10"/>
          <p:cNvSpPr/>
          <p:nvPr/>
        </p:nvSpPr>
        <p:spPr>
          <a:xfrm>
            <a:off x="1519729" y="2877082"/>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defTabSz="914377">
              <a:defRPr/>
            </a:pPr>
            <a:endParaRPr lang="ar-SA" sz="1600" b="1" dirty="0">
              <a:solidFill>
                <a:prstClr val="white">
                  <a:lumMod val="50000"/>
                </a:prstClr>
              </a:solidFill>
              <a:latin typeface="Calibri" panose="020F0502020204030204" pitchFamily="34" charset="0"/>
              <a:cs typeface="Calibri" panose="020F0502020204030204" pitchFamily="34" charset="0"/>
            </a:endParaRPr>
          </a:p>
        </p:txBody>
      </p:sp>
      <p:sp>
        <p:nvSpPr>
          <p:cNvPr id="12" name="مستطيل مستدير الزوايا 11"/>
          <p:cNvSpPr/>
          <p:nvPr/>
        </p:nvSpPr>
        <p:spPr>
          <a:xfrm>
            <a:off x="7950722" y="3067874"/>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defTabSz="914377">
              <a:defRPr/>
            </a:pPr>
            <a:r>
              <a:rPr lang="ar-SA" dirty="0">
                <a:solidFill>
                  <a:prstClr val="white"/>
                </a:solidFill>
                <a:latin typeface="Calibri" panose="020F0502020204030204" pitchFamily="34" charset="0"/>
                <a:cs typeface="Calibri" panose="020F0502020204030204" pitchFamily="34" charset="0"/>
              </a:rPr>
              <a:t>مجال الاكاديمية</a:t>
            </a:r>
            <a:endParaRPr lang="ar-SA" dirty="0">
              <a:solidFill>
                <a:prstClr val="white"/>
              </a:solidFill>
              <a:latin typeface="Calibri" panose="020F0502020204030204"/>
              <a:cs typeface="Arial" panose="020B0604020202020204" pitchFamily="34" charset="0"/>
            </a:endParaRPr>
          </a:p>
        </p:txBody>
      </p:sp>
      <p:sp>
        <p:nvSpPr>
          <p:cNvPr id="13" name="مستطيل 12"/>
          <p:cNvSpPr/>
          <p:nvPr/>
        </p:nvSpPr>
        <p:spPr>
          <a:xfrm>
            <a:off x="1788047" y="3115499"/>
            <a:ext cx="6096000" cy="338554"/>
          </a:xfrm>
          <a:prstGeom prst="rect">
            <a:avLst/>
          </a:prstGeom>
        </p:spPr>
        <p:txBody>
          <a:bodyPr>
            <a:spAutoFit/>
          </a:bodyPr>
          <a:lstStyle/>
          <a:p>
            <a:pPr lvl="0" algn="ctr"/>
            <a:r>
              <a:rPr lang="ar-SA" sz="1600" dirty="0">
                <a:solidFill>
                  <a:prstClr val="white">
                    <a:lumMod val="50000"/>
                  </a:prstClr>
                </a:solidFill>
                <a:latin typeface="Calibri" panose="020F0502020204030204" pitchFamily="34" charset="0"/>
                <a:cs typeface="Calibri" panose="020F0502020204030204" pitchFamily="34" charset="0"/>
              </a:rPr>
              <a:t>مجال الحاسب الآلي بشكل عام ومجال الشبكات وانظمتها بشكل خاص.</a:t>
            </a:r>
          </a:p>
        </p:txBody>
      </p:sp>
      <p:pic>
        <p:nvPicPr>
          <p:cNvPr id="14" name="صورة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126781"/>
            <a:ext cx="1094563" cy="356605"/>
          </a:xfrm>
          <a:prstGeom prst="rect">
            <a:avLst/>
          </a:prstGeom>
        </p:spPr>
      </p:pic>
    </p:spTree>
    <p:extLst>
      <p:ext uri="{BB962C8B-B14F-4D97-AF65-F5344CB8AC3E}">
        <p14:creationId xmlns:p14="http://schemas.microsoft.com/office/powerpoint/2010/main" val="26191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animBg="1"/>
      <p:bldP spid="9" grpId="0" animBg="1"/>
      <p:bldP spid="10" grpId="0"/>
      <p:bldP spid="11" grpId="0" animBg="1"/>
      <p:bldP spid="12"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3" name="مستطيل مستدير الزوايا 2"/>
          <p:cNvSpPr/>
          <p:nvPr/>
        </p:nvSpPr>
        <p:spPr>
          <a:xfrm>
            <a:off x="5238751" y="1937116"/>
            <a:ext cx="5114924" cy="616825"/>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ar-SA" sz="2400" dirty="0">
                <a:solidFill>
                  <a:schemeClr val="bg1"/>
                </a:solidFill>
                <a:latin typeface="Calibri" panose="020F0502020204030204" pitchFamily="34" charset="0"/>
                <a:cs typeface="Calibri" panose="020F0502020204030204" pitchFamily="34" charset="0"/>
              </a:rPr>
              <a:t> اكاديمية أدوبي العالمية</a:t>
            </a:r>
            <a:endParaRPr lang="ar-SA" sz="2400" dirty="0">
              <a:solidFill>
                <a:schemeClr val="bg1"/>
              </a:solidFill>
            </a:endParaRPr>
          </a:p>
        </p:txBody>
      </p:sp>
      <p:sp>
        <p:nvSpPr>
          <p:cNvPr id="4" name="مستطيل مستدير الزوايا 3"/>
          <p:cNvSpPr/>
          <p:nvPr/>
        </p:nvSpPr>
        <p:spPr>
          <a:xfrm>
            <a:off x="1519729" y="4715821"/>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5" name="مستطيل مستدير الزوايا 4"/>
          <p:cNvSpPr/>
          <p:nvPr/>
        </p:nvSpPr>
        <p:spPr>
          <a:xfrm>
            <a:off x="7981312" y="4922241"/>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الشهادات الاحترافية</a:t>
            </a:r>
            <a:endParaRPr lang="ar-SA" dirty="0">
              <a:solidFill>
                <a:schemeClr val="bg1"/>
              </a:solidFill>
            </a:endParaRPr>
          </a:p>
        </p:txBody>
      </p:sp>
      <p:sp>
        <p:nvSpPr>
          <p:cNvPr id="6" name="مستطيل 5"/>
          <p:cNvSpPr/>
          <p:nvPr/>
        </p:nvSpPr>
        <p:spPr>
          <a:xfrm>
            <a:off x="1788047" y="4922241"/>
            <a:ext cx="6096000" cy="584775"/>
          </a:xfrm>
          <a:prstGeom prst="rect">
            <a:avLst/>
          </a:prstGeom>
        </p:spPr>
        <p:txBody>
          <a:bodyPr>
            <a:spAutoFit/>
          </a:bodyPr>
          <a:lstStyle/>
          <a:p>
            <a:pPr lvl="0" algn="ctr"/>
            <a:r>
              <a:rPr lang="ar-SA" sz="1600" dirty="0">
                <a:solidFill>
                  <a:schemeClr val="bg1">
                    <a:lumMod val="50000"/>
                  </a:schemeClr>
                </a:solidFill>
                <a:latin typeface="Calibri" panose="020F0502020204030204" pitchFamily="34" charset="0"/>
                <a:cs typeface="Calibri" panose="020F0502020204030204" pitchFamily="34" charset="0"/>
              </a:rPr>
              <a:t>للاطلاع على كافة الشهادات </a:t>
            </a:r>
          </a:p>
          <a:p>
            <a:pPr lvl="0" algn="ctr"/>
            <a:r>
              <a:rPr lang="en-US" sz="1600" dirty="0">
                <a:solidFill>
                  <a:schemeClr val="bg1">
                    <a:lumMod val="50000"/>
                  </a:schemeClr>
                </a:solidFill>
                <a:latin typeface="Calibri" panose="020F0502020204030204" pitchFamily="34" charset="0"/>
                <a:cs typeface="Calibri" panose="020F0502020204030204" pitchFamily="34" charset="0"/>
                <a:hlinkClick r:id="rId3"/>
              </a:rPr>
              <a:t>https://learning.adobe.com/certification.html</a:t>
            </a:r>
            <a:endParaRPr lang="en-US" sz="1600" dirty="0">
              <a:solidFill>
                <a:schemeClr val="bg1">
                  <a:lumMod val="50000"/>
                </a:schemeClr>
              </a:solidFill>
              <a:latin typeface="Calibri" panose="020F0502020204030204" pitchFamily="34" charset="0"/>
              <a:cs typeface="Calibri" panose="020F0502020204030204" pitchFamily="34" charset="0"/>
            </a:endParaRPr>
          </a:p>
        </p:txBody>
      </p:sp>
      <p:sp>
        <p:nvSpPr>
          <p:cNvPr id="7" name="مستطيل مستدير الزوايا 6"/>
          <p:cNvSpPr/>
          <p:nvPr/>
        </p:nvSpPr>
        <p:spPr>
          <a:xfrm>
            <a:off x="1519729" y="3754109"/>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8" name="مستطيل مستدير الزوايا 7"/>
          <p:cNvSpPr/>
          <p:nvPr/>
        </p:nvSpPr>
        <p:spPr>
          <a:xfrm>
            <a:off x="7987204" y="3960105"/>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التخصصات المتوافقة</a:t>
            </a:r>
            <a:endParaRPr lang="ar-SA" dirty="0">
              <a:solidFill>
                <a:schemeClr val="bg1"/>
              </a:solidFill>
            </a:endParaRPr>
          </a:p>
        </p:txBody>
      </p:sp>
      <p:sp>
        <p:nvSpPr>
          <p:cNvPr id="9" name="مستطيل 8"/>
          <p:cNvSpPr/>
          <p:nvPr/>
        </p:nvSpPr>
        <p:spPr>
          <a:xfrm>
            <a:off x="1610215" y="3754109"/>
            <a:ext cx="6340507" cy="830997"/>
          </a:xfrm>
          <a:prstGeom prst="rect">
            <a:avLst/>
          </a:prstGeom>
        </p:spPr>
        <p:txBody>
          <a:bodyPr wrap="square">
            <a:spAutoFit/>
          </a:bodyPr>
          <a:lstStyle/>
          <a:p>
            <a:pPr lvl="0" algn="ctr"/>
            <a:r>
              <a:rPr lang="ar-SA" sz="1600" dirty="0">
                <a:solidFill>
                  <a:schemeClr val="bg1">
                    <a:lumMod val="50000"/>
                  </a:schemeClr>
                </a:solidFill>
                <a:latin typeface="Calibri" panose="020F0502020204030204" pitchFamily="34" charset="0"/>
                <a:cs typeface="Calibri" panose="020F0502020204030204" pitchFamily="34" charset="0"/>
              </a:rPr>
              <a:t>دبلوم الوسائط المتعددة وتقنيات الويب.</a:t>
            </a:r>
          </a:p>
          <a:p>
            <a:pPr lvl="0" algn="ctr"/>
            <a:r>
              <a:rPr lang="ar-SA" sz="1600" dirty="0">
                <a:solidFill>
                  <a:schemeClr val="bg1">
                    <a:lumMod val="50000"/>
                  </a:schemeClr>
                </a:solidFill>
                <a:latin typeface="Calibri" panose="020F0502020204030204" pitchFamily="34" charset="0"/>
                <a:cs typeface="Calibri" panose="020F0502020204030204" pitchFamily="34" charset="0"/>
              </a:rPr>
              <a:t>دبلوم الطباعة الآلية للمعاهد الصناعية الثانوية ومعاهد العمارة والتشييد.</a:t>
            </a:r>
          </a:p>
          <a:p>
            <a:pPr lvl="0" algn="ctr"/>
            <a:r>
              <a:rPr lang="ar-SA" sz="1600" dirty="0">
                <a:solidFill>
                  <a:schemeClr val="bg1">
                    <a:lumMod val="50000"/>
                  </a:schemeClr>
                </a:solidFill>
                <a:latin typeface="Calibri" panose="020F0502020204030204" pitchFamily="34" charset="0"/>
                <a:cs typeface="Calibri" panose="020F0502020204030204" pitchFamily="34" charset="0"/>
              </a:rPr>
              <a:t>دبلوم التصوير الضوئي للمعاهد الصناعية الثانوية ومعاهد العمارة والتشييد.</a:t>
            </a:r>
          </a:p>
        </p:txBody>
      </p:sp>
      <p:sp>
        <p:nvSpPr>
          <p:cNvPr id="10" name="مستطيل مستدير الزوايا 9"/>
          <p:cNvSpPr/>
          <p:nvPr/>
        </p:nvSpPr>
        <p:spPr>
          <a:xfrm>
            <a:off x="1519729" y="2792397"/>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11" name="مستطيل مستدير الزوايا 10"/>
          <p:cNvSpPr/>
          <p:nvPr/>
        </p:nvSpPr>
        <p:spPr>
          <a:xfrm>
            <a:off x="7950722" y="2983189"/>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مجال الاكاديمية</a:t>
            </a:r>
            <a:endParaRPr lang="ar-SA" dirty="0">
              <a:solidFill>
                <a:schemeClr val="bg1"/>
              </a:solidFill>
            </a:endParaRPr>
          </a:p>
        </p:txBody>
      </p:sp>
      <p:sp>
        <p:nvSpPr>
          <p:cNvPr id="12" name="مستطيل 11"/>
          <p:cNvSpPr/>
          <p:nvPr/>
        </p:nvSpPr>
        <p:spPr>
          <a:xfrm>
            <a:off x="1788047" y="2926684"/>
            <a:ext cx="6096000" cy="584775"/>
          </a:xfrm>
          <a:prstGeom prst="rect">
            <a:avLst/>
          </a:prstGeom>
        </p:spPr>
        <p:txBody>
          <a:bodyPr>
            <a:spAutoFit/>
          </a:bodyPr>
          <a:lstStyle/>
          <a:p>
            <a:pPr algn="ctr"/>
            <a:r>
              <a:rPr lang="ar-SA" sz="1600" dirty="0">
                <a:solidFill>
                  <a:schemeClr val="bg1">
                    <a:lumMod val="50000"/>
                  </a:schemeClr>
                </a:solidFill>
                <a:latin typeface="Calibri" panose="020F0502020204030204" pitchFamily="34" charset="0"/>
                <a:cs typeface="Calibri" panose="020F0502020204030204" pitchFamily="34" charset="0"/>
              </a:rPr>
              <a:t>في مجال التصميم والجرافيك بشكل عام وفي مجال منتجات وأنظمة الشركة بشكل خاص, ومن  أشهر تلك المنتجات بر </a:t>
            </a:r>
            <a:r>
              <a:rPr lang="ar-SA" sz="1600" dirty="0" err="1">
                <a:solidFill>
                  <a:schemeClr val="bg1">
                    <a:lumMod val="50000"/>
                  </a:schemeClr>
                </a:solidFill>
                <a:latin typeface="Calibri" panose="020F0502020204030204" pitchFamily="34" charset="0"/>
                <a:cs typeface="Calibri" panose="020F0502020204030204" pitchFamily="34" charset="0"/>
              </a:rPr>
              <a:t>نامج</a:t>
            </a:r>
            <a:r>
              <a:rPr lang="ar-SA" sz="1600" dirty="0">
                <a:solidFill>
                  <a:schemeClr val="bg1">
                    <a:lumMod val="50000"/>
                  </a:schemeClr>
                </a:solidFill>
                <a:latin typeface="Calibri" panose="020F0502020204030204" pitchFamily="34" charset="0"/>
                <a:cs typeface="Calibri" panose="020F0502020204030204" pitchFamily="34" charset="0"/>
              </a:rPr>
              <a:t> أدوبي فوتوشوب </a:t>
            </a:r>
            <a:r>
              <a:rPr lang="en-US" sz="1600" dirty="0">
                <a:solidFill>
                  <a:schemeClr val="bg1">
                    <a:lumMod val="50000"/>
                  </a:schemeClr>
                </a:solidFill>
                <a:latin typeface="Calibri" panose="020F0502020204030204" pitchFamily="34" charset="0"/>
                <a:cs typeface="Calibri" panose="020F0502020204030204" pitchFamily="34" charset="0"/>
              </a:rPr>
              <a:t>Adobe Photoshop</a:t>
            </a:r>
            <a:endParaRPr lang="ar-SA" sz="1600" dirty="0">
              <a:solidFill>
                <a:schemeClr val="bg1">
                  <a:lumMod val="50000"/>
                </a:schemeClr>
              </a:solidFill>
              <a:latin typeface="Calibri" panose="020F0502020204030204" pitchFamily="34" charset="0"/>
              <a:cs typeface="Calibri" panose="020F0502020204030204" pitchFamily="34" charset="0"/>
            </a:endParaRPr>
          </a:p>
        </p:txBody>
      </p:sp>
      <p:pic>
        <p:nvPicPr>
          <p:cNvPr id="13" name="صورة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25421" y="1907300"/>
            <a:ext cx="1370793" cy="676457"/>
          </a:xfrm>
          <a:prstGeom prst="rect">
            <a:avLst/>
          </a:prstGeom>
        </p:spPr>
      </p:pic>
    </p:spTree>
    <p:extLst>
      <p:ext uri="{BB962C8B-B14F-4D97-AF65-F5344CB8AC3E}">
        <p14:creationId xmlns:p14="http://schemas.microsoft.com/office/powerpoint/2010/main" val="3156055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p:bldP spid="10" grpId="0" animBg="1"/>
      <p:bldP spid="11" grpId="0" animBg="1"/>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3" name="مستطيل مستدير الزوايا 2"/>
          <p:cNvSpPr/>
          <p:nvPr/>
        </p:nvSpPr>
        <p:spPr>
          <a:xfrm>
            <a:off x="5238751" y="2021801"/>
            <a:ext cx="5114924" cy="616825"/>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ar-SA" sz="2400" dirty="0">
                <a:solidFill>
                  <a:schemeClr val="bg1"/>
                </a:solidFill>
                <a:latin typeface="Calibri" panose="020F0502020204030204" pitchFamily="34" charset="0"/>
                <a:cs typeface="Calibri" panose="020F0502020204030204" pitchFamily="34" charset="0"/>
              </a:rPr>
              <a:t> اكاديمية اوراكل العالمية</a:t>
            </a:r>
            <a:endParaRPr lang="ar-SA" sz="2400" dirty="0">
              <a:solidFill>
                <a:schemeClr val="bg1"/>
              </a:solidFill>
            </a:endParaRPr>
          </a:p>
        </p:txBody>
      </p:sp>
      <p:sp>
        <p:nvSpPr>
          <p:cNvPr id="4" name="مستطيل مستدير الزوايا 3"/>
          <p:cNvSpPr/>
          <p:nvPr/>
        </p:nvSpPr>
        <p:spPr>
          <a:xfrm>
            <a:off x="1519729" y="4800506"/>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5" name="مستطيل مستدير الزوايا 4"/>
          <p:cNvSpPr/>
          <p:nvPr/>
        </p:nvSpPr>
        <p:spPr>
          <a:xfrm>
            <a:off x="7981312" y="5006926"/>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الشهادات الاحترافية</a:t>
            </a:r>
            <a:endParaRPr lang="ar-SA" dirty="0">
              <a:solidFill>
                <a:schemeClr val="bg1"/>
              </a:solidFill>
            </a:endParaRPr>
          </a:p>
        </p:txBody>
      </p:sp>
      <p:sp>
        <p:nvSpPr>
          <p:cNvPr id="6" name="مستطيل 5"/>
          <p:cNvSpPr/>
          <p:nvPr/>
        </p:nvSpPr>
        <p:spPr>
          <a:xfrm>
            <a:off x="1788047" y="4922241"/>
            <a:ext cx="6096000" cy="584775"/>
          </a:xfrm>
          <a:prstGeom prst="rect">
            <a:avLst/>
          </a:prstGeom>
        </p:spPr>
        <p:txBody>
          <a:bodyPr>
            <a:spAutoFit/>
          </a:bodyPr>
          <a:lstStyle/>
          <a:p>
            <a:pPr lvl="0" algn="ctr"/>
            <a:r>
              <a:rPr lang="ar-SA" sz="1600" dirty="0">
                <a:solidFill>
                  <a:schemeClr val="bg1">
                    <a:lumMod val="50000"/>
                  </a:schemeClr>
                </a:solidFill>
                <a:latin typeface="Calibri" panose="020F0502020204030204" pitchFamily="34" charset="0"/>
                <a:cs typeface="Calibri" panose="020F0502020204030204" pitchFamily="34" charset="0"/>
              </a:rPr>
              <a:t>للاطلاع على كافة الشهادات الاحترافية</a:t>
            </a:r>
          </a:p>
          <a:p>
            <a:pPr lvl="0" algn="ctr"/>
            <a:r>
              <a:rPr lang="en-US" sz="1600" dirty="0">
                <a:solidFill>
                  <a:schemeClr val="bg1">
                    <a:lumMod val="50000"/>
                  </a:schemeClr>
                </a:solidFill>
                <a:latin typeface="Calibri" panose="020F0502020204030204" pitchFamily="34" charset="0"/>
                <a:cs typeface="Calibri" panose="020F0502020204030204" pitchFamily="34" charset="0"/>
                <a:hlinkClick r:id="rId3"/>
              </a:rPr>
              <a:t>https://education.oracle.com/certification</a:t>
            </a:r>
            <a:endParaRPr lang="en-US" sz="1600" dirty="0">
              <a:solidFill>
                <a:schemeClr val="bg1">
                  <a:lumMod val="50000"/>
                </a:schemeClr>
              </a:solidFill>
              <a:latin typeface="Calibri" panose="020F0502020204030204" pitchFamily="34" charset="0"/>
              <a:cs typeface="Calibri" panose="020F0502020204030204" pitchFamily="34" charset="0"/>
            </a:endParaRPr>
          </a:p>
        </p:txBody>
      </p:sp>
      <p:sp>
        <p:nvSpPr>
          <p:cNvPr id="7" name="مستطيل مستدير الزوايا 6"/>
          <p:cNvSpPr/>
          <p:nvPr/>
        </p:nvSpPr>
        <p:spPr>
          <a:xfrm>
            <a:off x="1519729" y="3838794"/>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8" name="مستطيل مستدير الزوايا 7"/>
          <p:cNvSpPr/>
          <p:nvPr/>
        </p:nvSpPr>
        <p:spPr>
          <a:xfrm>
            <a:off x="7987204" y="4044790"/>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التخصصات المتوافقة</a:t>
            </a:r>
            <a:endParaRPr lang="ar-SA" dirty="0">
              <a:solidFill>
                <a:schemeClr val="bg1"/>
              </a:solidFill>
            </a:endParaRPr>
          </a:p>
        </p:txBody>
      </p:sp>
      <p:sp>
        <p:nvSpPr>
          <p:cNvPr id="9" name="مستطيل 8"/>
          <p:cNvSpPr/>
          <p:nvPr/>
        </p:nvSpPr>
        <p:spPr>
          <a:xfrm>
            <a:off x="1640805" y="4066887"/>
            <a:ext cx="6340507" cy="338554"/>
          </a:xfrm>
          <a:prstGeom prst="rect">
            <a:avLst/>
          </a:prstGeom>
        </p:spPr>
        <p:txBody>
          <a:bodyPr wrap="square">
            <a:spAutoFit/>
          </a:bodyPr>
          <a:lstStyle/>
          <a:p>
            <a:pPr lvl="0" algn="ctr"/>
            <a:r>
              <a:rPr lang="ar-SA" sz="1600" dirty="0">
                <a:solidFill>
                  <a:schemeClr val="bg1">
                    <a:lumMod val="50000"/>
                  </a:schemeClr>
                </a:solidFill>
                <a:latin typeface="Calibri" panose="020F0502020204030204" pitchFamily="34" charset="0"/>
                <a:cs typeface="Calibri" panose="020F0502020204030204" pitchFamily="34" charset="0"/>
              </a:rPr>
              <a:t>دبلوم البرمجيات</a:t>
            </a:r>
          </a:p>
        </p:txBody>
      </p:sp>
      <p:sp>
        <p:nvSpPr>
          <p:cNvPr id="10" name="مستطيل مستدير الزوايا 9"/>
          <p:cNvSpPr/>
          <p:nvPr/>
        </p:nvSpPr>
        <p:spPr>
          <a:xfrm>
            <a:off x="1519729" y="2877082"/>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11" name="مستطيل مستدير الزوايا 10"/>
          <p:cNvSpPr/>
          <p:nvPr/>
        </p:nvSpPr>
        <p:spPr>
          <a:xfrm>
            <a:off x="7950722" y="3067874"/>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مجال الاكاديمية</a:t>
            </a:r>
            <a:endParaRPr lang="ar-SA" dirty="0">
              <a:solidFill>
                <a:schemeClr val="bg1"/>
              </a:solidFill>
            </a:endParaRPr>
          </a:p>
        </p:txBody>
      </p:sp>
      <p:sp>
        <p:nvSpPr>
          <p:cNvPr id="12" name="مستطيل 11"/>
          <p:cNvSpPr/>
          <p:nvPr/>
        </p:nvSpPr>
        <p:spPr>
          <a:xfrm>
            <a:off x="1788047" y="3011369"/>
            <a:ext cx="6096000" cy="584775"/>
          </a:xfrm>
          <a:prstGeom prst="rect">
            <a:avLst/>
          </a:prstGeom>
        </p:spPr>
        <p:txBody>
          <a:bodyPr>
            <a:spAutoFit/>
          </a:bodyPr>
          <a:lstStyle/>
          <a:p>
            <a:pPr algn="ctr"/>
            <a:r>
              <a:rPr lang="ar-SA" sz="1600" dirty="0">
                <a:solidFill>
                  <a:schemeClr val="bg1">
                    <a:lumMod val="50000"/>
                  </a:schemeClr>
                </a:solidFill>
                <a:latin typeface="Calibri" panose="020F0502020204030204" pitchFamily="34" charset="0"/>
                <a:cs typeface="Calibri" panose="020F0502020204030204" pitchFamily="34" charset="0"/>
              </a:rPr>
              <a:t>مجال قواعد البيانات ولغات البرمجة بشكل عام وفي مجال منتجات وأنظمة الشركة بشكل خاص, ومن  أشهر تلك المنتجات </a:t>
            </a:r>
            <a:r>
              <a:rPr lang="en-US" sz="1600" dirty="0">
                <a:solidFill>
                  <a:schemeClr val="bg1">
                    <a:lumMod val="50000"/>
                  </a:schemeClr>
                </a:solidFill>
                <a:latin typeface="Calibri" panose="020F0502020204030204" pitchFamily="34" charset="0"/>
                <a:cs typeface="Calibri" panose="020F0502020204030204" pitchFamily="34" charset="0"/>
              </a:rPr>
              <a:t>Oracle Application Express (APEX)</a:t>
            </a:r>
            <a:endParaRPr lang="ar-SA" sz="1600" dirty="0">
              <a:solidFill>
                <a:schemeClr val="bg1">
                  <a:lumMod val="50000"/>
                </a:schemeClr>
              </a:solidFill>
              <a:latin typeface="Calibri" panose="020F0502020204030204" pitchFamily="34" charset="0"/>
              <a:cs typeface="Calibri" panose="020F0502020204030204" pitchFamily="34" charset="0"/>
            </a:endParaRPr>
          </a:p>
        </p:txBody>
      </p:sp>
      <p:pic>
        <p:nvPicPr>
          <p:cNvPr id="13" name="صورة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43887" y="2227528"/>
            <a:ext cx="1452327" cy="205368"/>
          </a:xfrm>
          <a:prstGeom prst="rect">
            <a:avLst/>
          </a:prstGeom>
        </p:spPr>
      </p:pic>
    </p:spTree>
    <p:extLst>
      <p:ext uri="{BB962C8B-B14F-4D97-AF65-F5344CB8AC3E}">
        <p14:creationId xmlns:p14="http://schemas.microsoft.com/office/powerpoint/2010/main" val="1090995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p:bldP spid="10" grpId="0" animBg="1"/>
      <p:bldP spid="11" grpId="0" animBg="1"/>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3" name="مستطيل مستدير الزوايا 2"/>
          <p:cNvSpPr/>
          <p:nvPr/>
        </p:nvSpPr>
        <p:spPr>
          <a:xfrm>
            <a:off x="5238751" y="2021801"/>
            <a:ext cx="5114924" cy="616825"/>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ar-SA" sz="2400" dirty="0">
                <a:solidFill>
                  <a:schemeClr val="bg1"/>
                </a:solidFill>
                <a:latin typeface="Calibri" panose="020F0502020204030204" pitchFamily="34" charset="0"/>
                <a:cs typeface="Calibri" panose="020F0502020204030204" pitchFamily="34" charset="0"/>
              </a:rPr>
              <a:t> اكاديمية ساب العالمية</a:t>
            </a:r>
            <a:endParaRPr lang="ar-SA" sz="2400" dirty="0">
              <a:solidFill>
                <a:schemeClr val="bg1"/>
              </a:solidFill>
            </a:endParaRPr>
          </a:p>
        </p:txBody>
      </p:sp>
      <p:sp>
        <p:nvSpPr>
          <p:cNvPr id="4" name="مستطيل مستدير الزوايا 3"/>
          <p:cNvSpPr/>
          <p:nvPr/>
        </p:nvSpPr>
        <p:spPr>
          <a:xfrm>
            <a:off x="1519729" y="4800506"/>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5" name="مستطيل مستدير الزوايا 4"/>
          <p:cNvSpPr/>
          <p:nvPr/>
        </p:nvSpPr>
        <p:spPr>
          <a:xfrm>
            <a:off x="7981312" y="5006926"/>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الشهادات الاحترافية</a:t>
            </a:r>
            <a:endParaRPr lang="ar-SA" dirty="0">
              <a:solidFill>
                <a:schemeClr val="bg1"/>
              </a:solidFill>
            </a:endParaRPr>
          </a:p>
        </p:txBody>
      </p:sp>
      <p:sp>
        <p:nvSpPr>
          <p:cNvPr id="6" name="مستطيل 5"/>
          <p:cNvSpPr/>
          <p:nvPr/>
        </p:nvSpPr>
        <p:spPr>
          <a:xfrm>
            <a:off x="1788047" y="4922240"/>
            <a:ext cx="6096000" cy="615553"/>
          </a:xfrm>
          <a:prstGeom prst="rect">
            <a:avLst/>
          </a:prstGeom>
        </p:spPr>
        <p:txBody>
          <a:bodyPr>
            <a:spAutoFit/>
          </a:bodyPr>
          <a:lstStyle/>
          <a:p>
            <a:pPr lvl="0" algn="ctr"/>
            <a:r>
              <a:rPr lang="ar-SA" sz="1600" dirty="0">
                <a:solidFill>
                  <a:schemeClr val="bg1">
                    <a:lumMod val="50000"/>
                  </a:schemeClr>
                </a:solidFill>
                <a:latin typeface="Calibri" panose="020F0502020204030204" pitchFamily="34" charset="0"/>
                <a:cs typeface="Calibri" panose="020F0502020204030204" pitchFamily="34" charset="0"/>
              </a:rPr>
              <a:t>للاطلاع على كافة الشهادات الاحترافية</a:t>
            </a:r>
          </a:p>
          <a:p>
            <a:pPr algn="ctr"/>
            <a:r>
              <a:rPr lang="en-US" b="1" dirty="0">
                <a:hlinkClick r:id="rId3"/>
              </a:rPr>
              <a:t>https://www.sap.com/mena-ar/training-certification.html</a:t>
            </a:r>
            <a:endParaRPr lang="ar-SA" b="1" dirty="0"/>
          </a:p>
        </p:txBody>
      </p:sp>
      <p:sp>
        <p:nvSpPr>
          <p:cNvPr id="7" name="مستطيل مستدير الزوايا 6"/>
          <p:cNvSpPr/>
          <p:nvPr/>
        </p:nvSpPr>
        <p:spPr>
          <a:xfrm>
            <a:off x="1519729" y="3838794"/>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8" name="مستطيل مستدير الزوايا 7"/>
          <p:cNvSpPr/>
          <p:nvPr/>
        </p:nvSpPr>
        <p:spPr>
          <a:xfrm>
            <a:off x="7987204" y="4044790"/>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التخصصات المتوافقة</a:t>
            </a:r>
            <a:endParaRPr lang="ar-SA" dirty="0">
              <a:solidFill>
                <a:schemeClr val="bg1"/>
              </a:solidFill>
            </a:endParaRPr>
          </a:p>
        </p:txBody>
      </p:sp>
      <p:sp>
        <p:nvSpPr>
          <p:cNvPr id="9" name="مستطيل 8"/>
          <p:cNvSpPr/>
          <p:nvPr/>
        </p:nvSpPr>
        <p:spPr>
          <a:xfrm>
            <a:off x="1640805" y="4066887"/>
            <a:ext cx="6340507" cy="338554"/>
          </a:xfrm>
          <a:prstGeom prst="rect">
            <a:avLst/>
          </a:prstGeom>
        </p:spPr>
        <p:txBody>
          <a:bodyPr wrap="square">
            <a:spAutoFit/>
          </a:bodyPr>
          <a:lstStyle/>
          <a:p>
            <a:pPr lvl="0" algn="ctr"/>
            <a:r>
              <a:rPr lang="ar-SA" sz="1600" dirty="0">
                <a:solidFill>
                  <a:schemeClr val="bg1">
                    <a:lumMod val="50000"/>
                  </a:schemeClr>
                </a:solidFill>
                <a:latin typeface="Calibri" panose="020F0502020204030204" pitchFamily="34" charset="0"/>
                <a:cs typeface="Calibri" panose="020F0502020204030204" pitchFamily="34" charset="0"/>
              </a:rPr>
              <a:t>دبلوم المحاسبة</a:t>
            </a:r>
          </a:p>
        </p:txBody>
      </p:sp>
      <p:sp>
        <p:nvSpPr>
          <p:cNvPr id="10" name="مستطيل مستدير الزوايا 9"/>
          <p:cNvSpPr/>
          <p:nvPr/>
        </p:nvSpPr>
        <p:spPr>
          <a:xfrm>
            <a:off x="1519729" y="2877082"/>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11" name="مستطيل مستدير الزوايا 10"/>
          <p:cNvSpPr/>
          <p:nvPr/>
        </p:nvSpPr>
        <p:spPr>
          <a:xfrm>
            <a:off x="7950722" y="3067874"/>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مجال الاكاديمية</a:t>
            </a:r>
            <a:endParaRPr lang="ar-SA" dirty="0">
              <a:solidFill>
                <a:schemeClr val="bg1"/>
              </a:solidFill>
            </a:endParaRPr>
          </a:p>
        </p:txBody>
      </p:sp>
      <p:sp>
        <p:nvSpPr>
          <p:cNvPr id="12" name="مستطيل 11"/>
          <p:cNvSpPr/>
          <p:nvPr/>
        </p:nvSpPr>
        <p:spPr>
          <a:xfrm>
            <a:off x="1788047" y="3011369"/>
            <a:ext cx="6096000" cy="584775"/>
          </a:xfrm>
          <a:prstGeom prst="rect">
            <a:avLst/>
          </a:prstGeom>
        </p:spPr>
        <p:txBody>
          <a:bodyPr>
            <a:spAutoFit/>
          </a:bodyPr>
          <a:lstStyle/>
          <a:p>
            <a:pPr algn="ctr"/>
            <a:r>
              <a:rPr lang="ar-SA" sz="1600" dirty="0">
                <a:solidFill>
                  <a:schemeClr val="bg1">
                    <a:lumMod val="50000"/>
                  </a:schemeClr>
                </a:solidFill>
                <a:latin typeface="Calibri" panose="020F0502020204030204" pitchFamily="34" charset="0"/>
                <a:cs typeface="Calibri" panose="020F0502020204030204" pitchFamily="34" charset="0"/>
              </a:rPr>
              <a:t>في مجال المحاسبة المالية بشكل عام وفي مجال منتجات وأنظمة الشركة بشكل خاص ومن أشهر تلك المنتجات حزم برامج ساب </a:t>
            </a:r>
            <a:r>
              <a:rPr lang="en-US" sz="1600" dirty="0">
                <a:solidFill>
                  <a:schemeClr val="bg1">
                    <a:lumMod val="50000"/>
                  </a:schemeClr>
                </a:solidFill>
                <a:latin typeface="Calibri" panose="020F0502020204030204" pitchFamily="34" charset="0"/>
                <a:cs typeface="Calibri" panose="020F0502020204030204" pitchFamily="34" charset="0"/>
              </a:rPr>
              <a:t>SAP</a:t>
            </a:r>
            <a:endParaRPr lang="ar-SA" sz="1600" dirty="0">
              <a:solidFill>
                <a:schemeClr val="bg1">
                  <a:lumMod val="50000"/>
                </a:schemeClr>
              </a:solidFill>
              <a:latin typeface="Calibri" panose="020F0502020204030204" pitchFamily="34" charset="0"/>
              <a:cs typeface="Calibri" panose="020F0502020204030204" pitchFamily="34" charset="0"/>
            </a:endParaRPr>
          </a:p>
        </p:txBody>
      </p:sp>
      <p:pic>
        <p:nvPicPr>
          <p:cNvPr id="13" name="صورة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72301" y="2120373"/>
            <a:ext cx="823913" cy="419681"/>
          </a:xfrm>
          <a:prstGeom prst="rect">
            <a:avLst/>
          </a:prstGeom>
        </p:spPr>
      </p:pic>
    </p:spTree>
    <p:extLst>
      <p:ext uri="{BB962C8B-B14F-4D97-AF65-F5344CB8AC3E}">
        <p14:creationId xmlns:p14="http://schemas.microsoft.com/office/powerpoint/2010/main" val="247566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p:bldP spid="10" grpId="0" animBg="1"/>
      <p:bldP spid="11" grpId="0" animBg="1"/>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3" name="مستطيل مستدير الزوايا 2"/>
          <p:cNvSpPr/>
          <p:nvPr/>
        </p:nvSpPr>
        <p:spPr>
          <a:xfrm>
            <a:off x="5238751" y="2021801"/>
            <a:ext cx="5114924" cy="616825"/>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ar-SA" sz="2400" dirty="0">
                <a:solidFill>
                  <a:schemeClr val="bg1"/>
                </a:solidFill>
                <a:latin typeface="Calibri" panose="020F0502020204030204" pitchFamily="34" charset="0"/>
                <a:cs typeface="Calibri" panose="020F0502020204030204" pitchFamily="34" charset="0"/>
              </a:rPr>
              <a:t> اكاديمية </a:t>
            </a:r>
            <a:r>
              <a:rPr lang="ar-SA" sz="2400" dirty="0" err="1">
                <a:solidFill>
                  <a:schemeClr val="bg1"/>
                </a:solidFill>
                <a:latin typeface="Calibri" panose="020F0502020204030204" pitchFamily="34" charset="0"/>
                <a:cs typeface="Calibri" panose="020F0502020204030204" pitchFamily="34" charset="0"/>
              </a:rPr>
              <a:t>هواوي</a:t>
            </a:r>
            <a:r>
              <a:rPr lang="ar-SA" sz="2400" dirty="0">
                <a:solidFill>
                  <a:schemeClr val="bg1"/>
                </a:solidFill>
                <a:latin typeface="Calibri" panose="020F0502020204030204" pitchFamily="34" charset="0"/>
                <a:cs typeface="Calibri" panose="020F0502020204030204" pitchFamily="34" charset="0"/>
              </a:rPr>
              <a:t> العالمية</a:t>
            </a:r>
            <a:endParaRPr lang="ar-SA" sz="2400" dirty="0">
              <a:solidFill>
                <a:schemeClr val="bg1"/>
              </a:solidFill>
            </a:endParaRPr>
          </a:p>
        </p:txBody>
      </p:sp>
      <p:sp>
        <p:nvSpPr>
          <p:cNvPr id="4" name="مستطيل مستدير الزوايا 3"/>
          <p:cNvSpPr/>
          <p:nvPr/>
        </p:nvSpPr>
        <p:spPr>
          <a:xfrm>
            <a:off x="1519729" y="4800506"/>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5" name="مستطيل مستدير الزوايا 4"/>
          <p:cNvSpPr/>
          <p:nvPr/>
        </p:nvSpPr>
        <p:spPr>
          <a:xfrm>
            <a:off x="7981312" y="5006926"/>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الشهادات الاحترافية</a:t>
            </a:r>
            <a:endParaRPr lang="ar-SA" dirty="0">
              <a:solidFill>
                <a:schemeClr val="bg1"/>
              </a:solidFill>
            </a:endParaRPr>
          </a:p>
        </p:txBody>
      </p:sp>
      <p:sp>
        <p:nvSpPr>
          <p:cNvPr id="6" name="مستطيل 5"/>
          <p:cNvSpPr/>
          <p:nvPr/>
        </p:nvSpPr>
        <p:spPr>
          <a:xfrm>
            <a:off x="1788047" y="4922240"/>
            <a:ext cx="6096000" cy="615553"/>
          </a:xfrm>
          <a:prstGeom prst="rect">
            <a:avLst/>
          </a:prstGeom>
        </p:spPr>
        <p:txBody>
          <a:bodyPr>
            <a:spAutoFit/>
          </a:bodyPr>
          <a:lstStyle/>
          <a:p>
            <a:pPr lvl="0" algn="ctr"/>
            <a:r>
              <a:rPr lang="ar-SA" sz="1600" dirty="0">
                <a:solidFill>
                  <a:schemeClr val="bg1">
                    <a:lumMod val="50000"/>
                  </a:schemeClr>
                </a:solidFill>
                <a:latin typeface="Calibri" panose="020F0502020204030204" pitchFamily="34" charset="0"/>
                <a:cs typeface="Calibri" panose="020F0502020204030204" pitchFamily="34" charset="0"/>
              </a:rPr>
              <a:t>للاطلاع على كافة الشهادات الاحترافية</a:t>
            </a:r>
          </a:p>
          <a:p>
            <a:r>
              <a:rPr lang="en-US" b="1" dirty="0">
                <a:hlinkClick r:id="rId3"/>
              </a:rPr>
              <a:t>https://e.huawei.com/en/talent/#/cert?navType=authNavKey</a:t>
            </a:r>
            <a:endParaRPr lang="ar-SA" b="1" dirty="0"/>
          </a:p>
        </p:txBody>
      </p:sp>
      <p:sp>
        <p:nvSpPr>
          <p:cNvPr id="7" name="مستطيل مستدير الزوايا 6"/>
          <p:cNvSpPr/>
          <p:nvPr/>
        </p:nvSpPr>
        <p:spPr>
          <a:xfrm>
            <a:off x="1519729" y="3838794"/>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8" name="مستطيل مستدير الزوايا 7"/>
          <p:cNvSpPr/>
          <p:nvPr/>
        </p:nvSpPr>
        <p:spPr>
          <a:xfrm>
            <a:off x="7987204" y="4044790"/>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التخصصات المتوافقة</a:t>
            </a:r>
            <a:endParaRPr lang="ar-SA" dirty="0">
              <a:solidFill>
                <a:schemeClr val="bg1"/>
              </a:solidFill>
            </a:endParaRPr>
          </a:p>
        </p:txBody>
      </p:sp>
      <p:sp>
        <p:nvSpPr>
          <p:cNvPr id="9" name="مستطيل 8"/>
          <p:cNvSpPr/>
          <p:nvPr/>
        </p:nvSpPr>
        <p:spPr>
          <a:xfrm>
            <a:off x="1583213" y="3975733"/>
            <a:ext cx="6340507" cy="584775"/>
          </a:xfrm>
          <a:prstGeom prst="rect">
            <a:avLst/>
          </a:prstGeom>
        </p:spPr>
        <p:txBody>
          <a:bodyPr wrap="square">
            <a:spAutoFit/>
          </a:bodyPr>
          <a:lstStyle/>
          <a:p>
            <a:pPr lvl="0" algn="ctr"/>
            <a:r>
              <a:rPr lang="ar-SA" sz="1600" dirty="0">
                <a:solidFill>
                  <a:schemeClr val="bg1">
                    <a:lumMod val="50000"/>
                  </a:schemeClr>
                </a:solidFill>
                <a:latin typeface="Calibri" panose="020F0502020204030204" pitchFamily="34" charset="0"/>
                <a:cs typeface="Calibri" panose="020F0502020204030204" pitchFamily="34" charset="0"/>
              </a:rPr>
              <a:t>دبلوم شبكات الحاسب</a:t>
            </a:r>
          </a:p>
          <a:p>
            <a:pPr lvl="0" algn="ctr"/>
            <a:r>
              <a:rPr lang="ar-SA" sz="1600" dirty="0">
                <a:solidFill>
                  <a:schemeClr val="bg1">
                    <a:lumMod val="50000"/>
                  </a:schemeClr>
                </a:solidFill>
                <a:latin typeface="Calibri" panose="020F0502020204030204" pitchFamily="34" charset="0"/>
                <a:cs typeface="Calibri" panose="020F0502020204030204" pitchFamily="34" charset="0"/>
              </a:rPr>
              <a:t>بكالوريوس دعم أنظمة الشبكات</a:t>
            </a:r>
          </a:p>
        </p:txBody>
      </p:sp>
      <p:sp>
        <p:nvSpPr>
          <p:cNvPr id="10" name="مستطيل مستدير الزوايا 9"/>
          <p:cNvSpPr/>
          <p:nvPr/>
        </p:nvSpPr>
        <p:spPr>
          <a:xfrm>
            <a:off x="1519729" y="2877082"/>
            <a:ext cx="6632636" cy="828247"/>
          </a:xfrm>
          <a:prstGeom prst="roundRect">
            <a:avLst/>
          </a:prstGeom>
          <a:solidFill>
            <a:schemeClr val="bg1"/>
          </a:solidFill>
          <a:ln w="25400">
            <a:solidFill>
              <a:srgbClr val="1FBAB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1600" b="1" dirty="0">
              <a:solidFill>
                <a:schemeClr val="bg1">
                  <a:lumMod val="50000"/>
                </a:schemeClr>
              </a:solidFill>
              <a:latin typeface="Calibri" panose="020F0502020204030204" pitchFamily="34" charset="0"/>
              <a:cs typeface="Calibri" panose="020F0502020204030204" pitchFamily="34" charset="0"/>
            </a:endParaRPr>
          </a:p>
        </p:txBody>
      </p:sp>
      <p:sp>
        <p:nvSpPr>
          <p:cNvPr id="11" name="مستطيل مستدير الزوايا 10"/>
          <p:cNvSpPr/>
          <p:nvPr/>
        </p:nvSpPr>
        <p:spPr>
          <a:xfrm>
            <a:off x="7950722" y="3067874"/>
            <a:ext cx="2389789" cy="446663"/>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dirty="0">
                <a:solidFill>
                  <a:schemeClr val="bg1"/>
                </a:solidFill>
                <a:latin typeface="Calibri" panose="020F0502020204030204" pitchFamily="34" charset="0"/>
                <a:cs typeface="Calibri" panose="020F0502020204030204" pitchFamily="34" charset="0"/>
              </a:rPr>
              <a:t>مجال الاكاديمية</a:t>
            </a:r>
            <a:endParaRPr lang="ar-SA" dirty="0">
              <a:solidFill>
                <a:schemeClr val="bg1"/>
              </a:solidFill>
            </a:endParaRPr>
          </a:p>
        </p:txBody>
      </p:sp>
      <p:sp>
        <p:nvSpPr>
          <p:cNvPr id="12" name="مستطيل 11"/>
          <p:cNvSpPr/>
          <p:nvPr/>
        </p:nvSpPr>
        <p:spPr>
          <a:xfrm>
            <a:off x="1788047" y="3011369"/>
            <a:ext cx="6096000" cy="584775"/>
          </a:xfrm>
          <a:prstGeom prst="rect">
            <a:avLst/>
          </a:prstGeom>
        </p:spPr>
        <p:txBody>
          <a:bodyPr>
            <a:spAutoFit/>
          </a:bodyPr>
          <a:lstStyle/>
          <a:p>
            <a:pPr algn="ctr"/>
            <a:r>
              <a:rPr lang="ar-SA" sz="1600" dirty="0">
                <a:solidFill>
                  <a:schemeClr val="bg1">
                    <a:lumMod val="50000"/>
                  </a:schemeClr>
                </a:solidFill>
                <a:latin typeface="Calibri" panose="020F0502020204030204" pitchFamily="34" charset="0"/>
                <a:cs typeface="Calibri" panose="020F0502020204030204" pitchFamily="34" charset="0"/>
              </a:rPr>
              <a:t>مجال تقنية المعلومات والاتصالات بشكل عام وفي مجال منتجات وأنظمة الشركة بشكل خاص</a:t>
            </a:r>
          </a:p>
        </p:txBody>
      </p:sp>
      <p:pic>
        <p:nvPicPr>
          <p:cNvPr id="13" name="صورة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87242" y="1763702"/>
            <a:ext cx="1471807" cy="1103855"/>
          </a:xfrm>
          <a:prstGeom prst="rect">
            <a:avLst/>
          </a:prstGeom>
        </p:spPr>
      </p:pic>
    </p:spTree>
    <p:extLst>
      <p:ext uri="{BB962C8B-B14F-4D97-AF65-F5344CB8AC3E}">
        <p14:creationId xmlns:p14="http://schemas.microsoft.com/office/powerpoint/2010/main" val="2084484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p:bldP spid="10" grpId="0" animBg="1"/>
      <p:bldP spid="11" grpId="0" animBg="1"/>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3" name="مربع نص 2"/>
          <p:cNvSpPr txBox="1"/>
          <p:nvPr/>
        </p:nvSpPr>
        <p:spPr>
          <a:xfrm>
            <a:off x="2259724" y="903890"/>
            <a:ext cx="7672552" cy="646331"/>
          </a:xfrm>
          <a:prstGeom prst="rect">
            <a:avLst/>
          </a:prstGeom>
          <a:noFill/>
        </p:spPr>
        <p:txBody>
          <a:bodyPr wrap="square" rtlCol="0">
            <a:spAutoFit/>
          </a:bodyPr>
          <a:lstStyle/>
          <a:p>
            <a:r>
              <a:rPr lang="ar-SA" sz="3600" dirty="0">
                <a:latin typeface="+mj-lt"/>
                <a:ea typeface="+mj-ea"/>
                <a:cs typeface="AL-Mateen" pitchFamily="2" charset="-78"/>
              </a:rPr>
              <a:t>مراكز الاختبارات </a:t>
            </a:r>
            <a:r>
              <a:rPr lang="ar-SA" sz="3600" dirty="0" smtClean="0">
                <a:latin typeface="+mj-lt"/>
                <a:ea typeface="+mj-ea"/>
                <a:cs typeface="AL-Mateen" pitchFamily="2" charset="-78"/>
              </a:rPr>
              <a:t>الدولية  </a:t>
            </a:r>
            <a:r>
              <a:rPr lang="en-US" sz="3600" dirty="0" smtClean="0">
                <a:latin typeface="+mj-lt"/>
                <a:ea typeface="+mj-ea"/>
                <a:cs typeface="AL-Mateen" pitchFamily="2" charset="-78"/>
              </a:rPr>
              <a:t>Accredited test centers</a:t>
            </a:r>
            <a:endParaRPr lang="en-US" sz="3600" dirty="0">
              <a:latin typeface="+mj-lt"/>
              <a:ea typeface="+mj-ea"/>
              <a:cs typeface="AL-Mateen" pitchFamily="2" charset="-78"/>
            </a:endParaRPr>
          </a:p>
        </p:txBody>
      </p:sp>
      <p:sp>
        <p:nvSpPr>
          <p:cNvPr id="4" name="مربع نص 3"/>
          <p:cNvSpPr txBox="1"/>
          <p:nvPr/>
        </p:nvSpPr>
        <p:spPr>
          <a:xfrm>
            <a:off x="5391808" y="2554014"/>
            <a:ext cx="5812220" cy="1200329"/>
          </a:xfrm>
          <a:prstGeom prst="rect">
            <a:avLst/>
          </a:prstGeom>
          <a:noFill/>
        </p:spPr>
        <p:txBody>
          <a:bodyPr wrap="square" rtlCol="0">
            <a:spAutoFit/>
          </a:bodyPr>
          <a:lstStyle/>
          <a:p>
            <a:r>
              <a:rPr lang="ar-SA" dirty="0" smtClean="0"/>
              <a:t>هو قاعة حاسوبية مجهزة بأحدث التقنيات اللازمة والخاصة بالاختبارات على الشهادات العالمية الاحترافية والتي تم اعتمادها من قبل الشركة المختصة بمواصفات ومعايير عالمية محددة.</a:t>
            </a:r>
            <a:endParaRPr lang="en-US" dirty="0" smtClean="0"/>
          </a:p>
          <a:p>
            <a:endParaRPr lang="en-US" dirty="0"/>
          </a:p>
        </p:txBody>
      </p:sp>
      <p:pic>
        <p:nvPicPr>
          <p:cNvPr id="5" name="صورة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86" y="2173759"/>
            <a:ext cx="5020273" cy="3585909"/>
          </a:xfrm>
          <a:prstGeom prst="rect">
            <a:avLst/>
          </a:prstGeom>
        </p:spPr>
      </p:pic>
    </p:spTree>
    <p:extLst>
      <p:ext uri="{BB962C8B-B14F-4D97-AF65-F5344CB8AC3E}">
        <p14:creationId xmlns:p14="http://schemas.microsoft.com/office/powerpoint/2010/main" val="10750713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4" name="مستطيل مستدير الزوايا 3"/>
          <p:cNvSpPr/>
          <p:nvPr/>
        </p:nvSpPr>
        <p:spPr>
          <a:xfrm>
            <a:off x="7439025" y="2353541"/>
            <a:ext cx="3783675" cy="468291"/>
          </a:xfrm>
          <a:prstGeom prst="roundRect">
            <a:avLst/>
          </a:prstGeom>
          <a:solidFill>
            <a:srgbClr val="1FBAB3"/>
          </a:solidFill>
          <a:ln>
            <a:solidFill>
              <a:srgbClr val="EBF5EC"/>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2400" dirty="0">
                <a:solidFill>
                  <a:schemeClr val="bg1"/>
                </a:solidFill>
                <a:latin typeface="Calibri" panose="020F0502020204030204" pitchFamily="34" charset="0"/>
                <a:cs typeface="Calibri" panose="020F0502020204030204" pitchFamily="34" charset="0"/>
              </a:rPr>
              <a:t>اهداف </a:t>
            </a:r>
            <a:r>
              <a:rPr lang="ar-SA" sz="2400" dirty="0" smtClean="0">
                <a:solidFill>
                  <a:schemeClr val="bg1"/>
                </a:solidFill>
                <a:latin typeface="Calibri" panose="020F0502020204030204" pitchFamily="34" charset="0"/>
                <a:cs typeface="Calibri" panose="020F0502020204030204" pitchFamily="34" charset="0"/>
              </a:rPr>
              <a:t>مراكز الاختبارات</a:t>
            </a:r>
            <a:endParaRPr lang="ar-SA" sz="2400" dirty="0">
              <a:solidFill>
                <a:schemeClr val="bg1"/>
              </a:solidFill>
              <a:latin typeface="Calibri" panose="020F0502020204030204" pitchFamily="34" charset="0"/>
              <a:cs typeface="Calibri" panose="020F0502020204030204" pitchFamily="34" charset="0"/>
            </a:endParaRPr>
          </a:p>
        </p:txBody>
      </p:sp>
      <p:sp>
        <p:nvSpPr>
          <p:cNvPr id="5" name="مستطيل 4"/>
          <p:cNvSpPr/>
          <p:nvPr/>
        </p:nvSpPr>
        <p:spPr>
          <a:xfrm>
            <a:off x="1040524" y="3158849"/>
            <a:ext cx="9816661" cy="3139321"/>
          </a:xfrm>
          <a:prstGeom prst="rect">
            <a:avLst/>
          </a:prstGeom>
        </p:spPr>
        <p:txBody>
          <a:bodyPr wrap="square">
            <a:spAutoFit/>
          </a:bodyPr>
          <a:lstStyle/>
          <a:p>
            <a:pPr marL="342900" lvl="0" indent="-342900">
              <a:buFont typeface="Wingdings" panose="05000000000000000000" pitchFamily="2" charset="2"/>
              <a:buChar char="Ø"/>
            </a:pPr>
            <a:r>
              <a:rPr lang="ar-SA" sz="2000" dirty="0"/>
              <a:t>تهدف مراكز الاختبارات إلى توفير العديد من الاختبارات الإلكترونية المعتمدة في جميع المجالات الأكاديمية والحكومية من خلال شبكة انترنت آمنة تضمن أداء الاختبارات في بيئة عالية الأمان والموثوقية.</a:t>
            </a:r>
          </a:p>
          <a:p>
            <a:pPr marL="342900" lvl="0" indent="-342900">
              <a:buFont typeface="Wingdings" panose="05000000000000000000" pitchFamily="2" charset="2"/>
              <a:buChar char="Ø"/>
            </a:pPr>
            <a:endParaRPr lang="en-US" sz="2000" dirty="0"/>
          </a:p>
          <a:p>
            <a:pPr marL="342900" lvl="0" indent="-342900">
              <a:buFont typeface="Wingdings" panose="05000000000000000000" pitchFamily="2" charset="2"/>
              <a:buChar char="Ø"/>
            </a:pPr>
            <a:r>
              <a:rPr lang="ar-SA" sz="2000" dirty="0"/>
              <a:t>تلتزم مراكز الاختبارات والشركة المقدمة للاختبارات بمعايير ومواصفات الجودة المعتمدة من قبل المؤسسة.</a:t>
            </a:r>
          </a:p>
          <a:p>
            <a:pPr marL="342900" lvl="0" indent="-342900">
              <a:buFont typeface="Wingdings" panose="05000000000000000000" pitchFamily="2" charset="2"/>
              <a:buChar char="Ø"/>
            </a:pPr>
            <a:endParaRPr lang="en-US" sz="2000" dirty="0"/>
          </a:p>
          <a:p>
            <a:pPr marL="342900" lvl="0" indent="-342900">
              <a:buFont typeface="Wingdings" panose="05000000000000000000" pitchFamily="2" charset="2"/>
              <a:buChar char="Ø"/>
            </a:pPr>
            <a:r>
              <a:rPr lang="ar-SA" sz="2000" dirty="0"/>
              <a:t>تمكن المختبرين من الحصول على الشهادات العالمية الاحترافية في مجالات تخصصاتهم.</a:t>
            </a:r>
          </a:p>
          <a:p>
            <a:pPr marL="342900" lvl="0" indent="-342900">
              <a:buFont typeface="Wingdings" panose="05000000000000000000" pitchFamily="2" charset="2"/>
              <a:buChar char="Ø"/>
            </a:pPr>
            <a:endParaRPr lang="en-US" sz="2000" dirty="0"/>
          </a:p>
          <a:p>
            <a:pPr marL="342900" lvl="0" indent="-342900">
              <a:buFont typeface="Wingdings" panose="05000000000000000000" pitchFamily="2" charset="2"/>
              <a:buChar char="Ø"/>
            </a:pPr>
            <a:r>
              <a:rPr lang="ar-SA" sz="2000" dirty="0"/>
              <a:t>حصول المختبرين من منسوبي الوحدة التدريبية على الشهادات الاحترافية بمجرد انتهائهم من التدرب داخل الكلية وتذليل كافة الصعاب التي تواجههم.</a:t>
            </a:r>
            <a:endParaRPr lang="en-US" sz="2000" dirty="0"/>
          </a:p>
          <a:p>
            <a:endParaRPr lang="ar-SA" dirty="0"/>
          </a:p>
        </p:txBody>
      </p:sp>
    </p:spTree>
    <p:extLst>
      <p:ext uri="{BB962C8B-B14F-4D97-AF65-F5344CB8AC3E}">
        <p14:creationId xmlns:p14="http://schemas.microsoft.com/office/powerpoint/2010/main" val="21033313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3" name="مستطيل 2"/>
          <p:cNvSpPr/>
          <p:nvPr/>
        </p:nvSpPr>
        <p:spPr>
          <a:xfrm>
            <a:off x="1235676" y="2396045"/>
            <a:ext cx="9863247" cy="2585323"/>
          </a:xfrm>
          <a:prstGeom prst="rect">
            <a:avLst/>
          </a:prstGeom>
        </p:spPr>
        <p:txBody>
          <a:bodyPr wrap="square">
            <a:spAutoFit/>
          </a:bodyPr>
          <a:lstStyle/>
          <a:p>
            <a:r>
              <a:rPr lang="ar-SA" b="1" dirty="0" smtClean="0">
                <a:solidFill>
                  <a:srgbClr val="1CBCB5"/>
                </a:solidFill>
              </a:rPr>
              <a:t>مراكز الاختبارات في  الوحدات التدريبية في المؤسسة العامة للتدريب التقني:</a:t>
            </a:r>
          </a:p>
          <a:p>
            <a:r>
              <a:rPr lang="ar-SA" dirty="0" smtClean="0"/>
              <a:t>بيرسون </a:t>
            </a:r>
            <a:r>
              <a:rPr lang="ar-SA" dirty="0" err="1" smtClean="0"/>
              <a:t>فيو</a:t>
            </a:r>
            <a:r>
              <a:rPr lang="ar-SA" dirty="0" smtClean="0"/>
              <a:t> </a:t>
            </a:r>
            <a:r>
              <a:rPr lang="en-US" dirty="0" smtClean="0"/>
              <a:t>Pearson </a:t>
            </a:r>
            <a:r>
              <a:rPr lang="en-US" dirty="0" err="1" smtClean="0"/>
              <a:t>Vue</a:t>
            </a:r>
            <a:r>
              <a:rPr lang="ar-SA" dirty="0" smtClean="0"/>
              <a:t>   </a:t>
            </a:r>
            <a:r>
              <a:rPr lang="en-US" dirty="0" smtClean="0">
                <a:hlinkClick r:id="rId3"/>
              </a:rPr>
              <a:t>https://home.pearsonvue.com/</a:t>
            </a:r>
            <a:endParaRPr lang="ar-SA" dirty="0" smtClean="0"/>
          </a:p>
          <a:p>
            <a:endParaRPr lang="ar-SA" dirty="0"/>
          </a:p>
          <a:p>
            <a:endParaRPr lang="ar-SA" dirty="0" smtClean="0"/>
          </a:p>
          <a:p>
            <a:endParaRPr lang="ar-SA" dirty="0"/>
          </a:p>
          <a:p>
            <a:endParaRPr lang="ar-SA" dirty="0" smtClean="0"/>
          </a:p>
          <a:p>
            <a:endParaRPr lang="ar-SA" dirty="0" smtClean="0"/>
          </a:p>
          <a:p>
            <a:r>
              <a:rPr lang="ar-SA" dirty="0" err="1" smtClean="0"/>
              <a:t>سيرتيبورت</a:t>
            </a:r>
            <a:r>
              <a:rPr lang="ar-SA" dirty="0" smtClean="0"/>
              <a:t> </a:t>
            </a:r>
            <a:r>
              <a:rPr lang="en-US" dirty="0" err="1" smtClean="0"/>
              <a:t>Certiport</a:t>
            </a:r>
            <a:r>
              <a:rPr lang="ar-SA" dirty="0" smtClean="0"/>
              <a:t>        </a:t>
            </a:r>
            <a:r>
              <a:rPr lang="en-US" dirty="0" smtClean="0">
                <a:hlinkClick r:id="rId4"/>
              </a:rPr>
              <a:t>https://certiport.pearsonvue.com/</a:t>
            </a:r>
            <a:endParaRPr lang="ar-SA" dirty="0" smtClean="0"/>
          </a:p>
          <a:p>
            <a:endParaRPr lang="ar-SA" dirty="0" smtClean="0"/>
          </a:p>
        </p:txBody>
      </p:sp>
      <p:pic>
        <p:nvPicPr>
          <p:cNvPr id="5" name="صورة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364" y="1984273"/>
            <a:ext cx="2857500" cy="2200275"/>
          </a:xfrm>
          <a:prstGeom prst="rect">
            <a:avLst/>
          </a:prstGeom>
        </p:spPr>
      </p:pic>
      <p:pic>
        <p:nvPicPr>
          <p:cNvPr id="6" name="صورة 5"/>
          <p:cNvPicPr>
            <a:picLocks noChangeAspect="1"/>
          </p:cNvPicPr>
          <p:nvPr/>
        </p:nvPicPr>
        <p:blipFill>
          <a:blip r:embed="rId6"/>
          <a:stretch>
            <a:fillRect/>
          </a:stretch>
        </p:blipFill>
        <p:spPr>
          <a:xfrm>
            <a:off x="1562872" y="4282433"/>
            <a:ext cx="2838450" cy="762000"/>
          </a:xfrm>
          <a:prstGeom prst="rect">
            <a:avLst/>
          </a:prstGeom>
        </p:spPr>
      </p:pic>
    </p:spTree>
    <p:extLst>
      <p:ext uri="{BB962C8B-B14F-4D97-AF65-F5344CB8AC3E}">
        <p14:creationId xmlns:p14="http://schemas.microsoft.com/office/powerpoint/2010/main" val="24397315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stretch>
            <a:fillRect/>
          </a:stretch>
        </p:blipFill>
        <p:spPr>
          <a:xfrm>
            <a:off x="1" y="0"/>
            <a:ext cx="12191999" cy="7148512"/>
          </a:xfrm>
          <a:prstGeom prst="rect">
            <a:avLst/>
          </a:prstGeom>
        </p:spPr>
      </p:pic>
    </p:spTree>
    <p:extLst>
      <p:ext uri="{BB962C8B-B14F-4D97-AF65-F5344CB8AC3E}">
        <p14:creationId xmlns:p14="http://schemas.microsoft.com/office/powerpoint/2010/main" val="3517101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sp>
        <p:nvSpPr>
          <p:cNvPr id="3" name="عنوان 2"/>
          <p:cNvSpPr txBox="1">
            <a:spLocks/>
          </p:cNvSpPr>
          <p:nvPr/>
        </p:nvSpPr>
        <p:spPr>
          <a:xfrm>
            <a:off x="2240878" y="1525992"/>
            <a:ext cx="7710243" cy="608543"/>
          </a:xfrm>
          <a:prstGeom prst="rect">
            <a:avLst/>
          </a:prstGeom>
        </p:spPr>
        <p:txBody>
          <a:bodyPr vert="horz" lIns="91440" tIns="45720" rIns="91440" bIns="45720" rtlCol="1" anchor="b">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r>
              <a:rPr lang="ar-SA" sz="3600" dirty="0" smtClean="0">
                <a:cs typeface="AL-Mateen" pitchFamily="2" charset="-78"/>
              </a:rPr>
              <a:t>الشهادات الاحترافية  </a:t>
            </a:r>
            <a:r>
              <a:rPr lang="en-US" sz="3600" dirty="0" smtClean="0">
                <a:cs typeface="AL-Mateen" pitchFamily="2" charset="-78"/>
              </a:rPr>
              <a:t>Professional certificates</a:t>
            </a:r>
            <a:endParaRPr lang="ar-SA" sz="3600" dirty="0">
              <a:cs typeface="AL-Mateen" pitchFamily="2" charset="-78"/>
            </a:endParaRPr>
          </a:p>
        </p:txBody>
      </p:sp>
      <p:sp>
        <p:nvSpPr>
          <p:cNvPr id="4" name="مربع نص 3"/>
          <p:cNvSpPr txBox="1"/>
          <p:nvPr/>
        </p:nvSpPr>
        <p:spPr>
          <a:xfrm>
            <a:off x="7401697" y="3212757"/>
            <a:ext cx="3052119" cy="2031325"/>
          </a:xfrm>
          <a:prstGeom prst="rect">
            <a:avLst/>
          </a:prstGeom>
          <a:noFill/>
        </p:spPr>
        <p:txBody>
          <a:bodyPr wrap="square" rtlCol="0">
            <a:spAutoFit/>
          </a:bodyPr>
          <a:lstStyle/>
          <a:p>
            <a:r>
              <a:rPr lang="ar-SA" b="1" dirty="0" smtClean="0"/>
              <a:t>الشهادات المهنية (الاحترافية) </a:t>
            </a:r>
            <a:r>
              <a:rPr lang="ar-SA" dirty="0" smtClean="0"/>
              <a:t>هي شهادة يحصل عليها المتخصص في مجال معين لضمان التأهيل والتخصص لأداء وظيفة أو مهمة بالشكل الاحترافي في حقل مهني تخصصي دقيق معتمد من جهة اعتماد أو جمعية مهنية دولية أو محلية</a:t>
            </a:r>
            <a:endParaRPr lang="en-US" dirty="0"/>
          </a:p>
        </p:txBody>
      </p:sp>
      <p:pic>
        <p:nvPicPr>
          <p:cNvPr id="5" name="صورة 4"/>
          <p:cNvPicPr>
            <a:picLocks noChangeAspect="1"/>
          </p:cNvPicPr>
          <p:nvPr/>
        </p:nvPicPr>
        <p:blipFill>
          <a:blip r:embed="rId3"/>
          <a:stretch>
            <a:fillRect/>
          </a:stretch>
        </p:blipFill>
        <p:spPr>
          <a:xfrm>
            <a:off x="544293" y="2753377"/>
            <a:ext cx="6966507" cy="3568927"/>
          </a:xfrm>
          <a:prstGeom prst="rect">
            <a:avLst/>
          </a:prstGeom>
        </p:spPr>
      </p:pic>
      <p:sp>
        <p:nvSpPr>
          <p:cNvPr id="6" name="مربع نص 5"/>
          <p:cNvSpPr txBox="1"/>
          <p:nvPr/>
        </p:nvSpPr>
        <p:spPr>
          <a:xfrm>
            <a:off x="8424959" y="5689646"/>
            <a:ext cx="1899110" cy="646331"/>
          </a:xfrm>
          <a:prstGeom prst="rect">
            <a:avLst/>
          </a:prstGeom>
          <a:noFill/>
        </p:spPr>
        <p:txBody>
          <a:bodyPr wrap="none" rtlCol="0">
            <a:spAutoFit/>
          </a:bodyPr>
          <a:lstStyle/>
          <a:p>
            <a:r>
              <a:rPr lang="en-US" dirty="0" smtClean="0">
                <a:hlinkClick r:id="rId4"/>
              </a:rPr>
              <a:t>http://certigate.sa</a:t>
            </a:r>
            <a:endParaRPr lang="ar-SA" dirty="0" smtClean="0"/>
          </a:p>
          <a:p>
            <a:endParaRPr lang="en-US" dirty="0"/>
          </a:p>
        </p:txBody>
      </p:sp>
    </p:spTree>
    <p:extLst>
      <p:ext uri="{BB962C8B-B14F-4D97-AF65-F5344CB8AC3E}">
        <p14:creationId xmlns:p14="http://schemas.microsoft.com/office/powerpoint/2010/main" val="18324319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pic>
        <p:nvPicPr>
          <p:cNvPr id="4" name="صورة 3"/>
          <p:cNvPicPr>
            <a:picLocks noChangeAspect="1"/>
          </p:cNvPicPr>
          <p:nvPr/>
        </p:nvPicPr>
        <p:blipFill>
          <a:blip r:embed="rId3"/>
          <a:stretch>
            <a:fillRect/>
          </a:stretch>
        </p:blipFill>
        <p:spPr>
          <a:xfrm>
            <a:off x="692242" y="1095378"/>
            <a:ext cx="5749879" cy="4434623"/>
          </a:xfrm>
          <a:prstGeom prst="rect">
            <a:avLst/>
          </a:prstGeom>
        </p:spPr>
      </p:pic>
      <p:sp>
        <p:nvSpPr>
          <p:cNvPr id="3" name="مستطيل 2"/>
          <p:cNvSpPr/>
          <p:nvPr/>
        </p:nvSpPr>
        <p:spPr>
          <a:xfrm>
            <a:off x="6442121" y="2944678"/>
            <a:ext cx="4786184" cy="2585323"/>
          </a:xfrm>
          <a:prstGeom prst="rect">
            <a:avLst/>
          </a:prstGeom>
        </p:spPr>
        <p:txBody>
          <a:bodyPr wrap="square">
            <a:spAutoFit/>
          </a:bodyPr>
          <a:lstStyle/>
          <a:p>
            <a:r>
              <a:rPr lang="ar-SA" dirty="0" smtClean="0"/>
              <a:t>إجراءات معادلة المقررات للحاصلين على الشهادات الاحترافية:</a:t>
            </a:r>
          </a:p>
          <a:p>
            <a:endParaRPr lang="ar-SA" dirty="0" smtClean="0"/>
          </a:p>
          <a:p>
            <a:r>
              <a:rPr lang="ar-SA" dirty="0" smtClean="0"/>
              <a:t>1. يتقدم المتدرب بتعبئة نموذج طلب معادلة مقررات عبر منصة رايات</a:t>
            </a:r>
            <a:r>
              <a:rPr lang="en-US" dirty="0" smtClean="0"/>
              <a:t>، </a:t>
            </a:r>
            <a:r>
              <a:rPr lang="ar-SA" dirty="0" smtClean="0"/>
              <a:t>مرفقاً معه نسـخة معتمدة من الشهادة الاحترافية.</a:t>
            </a:r>
          </a:p>
          <a:p>
            <a:r>
              <a:rPr lang="ar-SA" dirty="0" smtClean="0"/>
              <a:t> 2.  تراجع المنشأة التدريبية اكتمال المرفقات.</a:t>
            </a:r>
          </a:p>
          <a:p>
            <a:r>
              <a:rPr lang="ar-SA" dirty="0" smtClean="0"/>
              <a:t> 3. اعتماد الشهادة من الإدارة العامة لمركز التدرب الإلكتروني.</a:t>
            </a:r>
          </a:p>
          <a:p>
            <a:r>
              <a:rPr lang="ar-SA" dirty="0" smtClean="0"/>
              <a:t> 4. دراسة الطلب واعتماده من الإدارة العامة للمناهج لطلب المعادلة.</a:t>
            </a:r>
          </a:p>
          <a:p>
            <a:r>
              <a:rPr lang="ar-SA" dirty="0" smtClean="0"/>
              <a:t>5. متابعة الطلب عبر رايات للتأكد من المعادلة</a:t>
            </a:r>
            <a:endParaRPr lang="en-US" dirty="0"/>
          </a:p>
        </p:txBody>
      </p:sp>
      <p:sp>
        <p:nvSpPr>
          <p:cNvPr id="5" name="مربع نص 4"/>
          <p:cNvSpPr txBox="1"/>
          <p:nvPr/>
        </p:nvSpPr>
        <p:spPr>
          <a:xfrm>
            <a:off x="1991254" y="6073560"/>
            <a:ext cx="8209491" cy="646331"/>
          </a:xfrm>
          <a:prstGeom prst="rect">
            <a:avLst/>
          </a:prstGeom>
          <a:noFill/>
        </p:spPr>
        <p:txBody>
          <a:bodyPr wrap="none" rtlCol="0">
            <a:spAutoFit/>
          </a:bodyPr>
          <a:lstStyle/>
          <a:p>
            <a:r>
              <a:rPr lang="en-US" dirty="0" smtClean="0">
                <a:hlinkClick r:id="rId4"/>
              </a:rPr>
              <a:t>https://tvtc.gov.sa/ar/Departments/tvtcdepartments/Rayat/Pages/Documents.aspx#</a:t>
            </a:r>
            <a:r>
              <a:rPr lang="en-US" dirty="0" smtClean="0"/>
              <a:t>!</a:t>
            </a:r>
            <a:endParaRPr lang="ar-SA" dirty="0" smtClean="0"/>
          </a:p>
          <a:p>
            <a:endParaRPr lang="en-US" dirty="0"/>
          </a:p>
        </p:txBody>
      </p:sp>
    </p:spTree>
    <p:extLst>
      <p:ext uri="{BB962C8B-B14F-4D97-AF65-F5344CB8AC3E}">
        <p14:creationId xmlns:p14="http://schemas.microsoft.com/office/powerpoint/2010/main" val="42265900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3874"/>
          </a:xfrm>
          <a:prstGeom prst="rect">
            <a:avLst/>
          </a:prstGeom>
        </p:spPr>
      </p:pic>
      <p:pic>
        <p:nvPicPr>
          <p:cNvPr id="3" name="صورة 2"/>
          <p:cNvPicPr>
            <a:picLocks noChangeAspect="1"/>
          </p:cNvPicPr>
          <p:nvPr/>
        </p:nvPicPr>
        <p:blipFill>
          <a:blip r:embed="rId3"/>
          <a:stretch>
            <a:fillRect/>
          </a:stretch>
        </p:blipFill>
        <p:spPr>
          <a:xfrm>
            <a:off x="7670125" y="3508654"/>
            <a:ext cx="3558893" cy="2333431"/>
          </a:xfrm>
          <a:prstGeom prst="rect">
            <a:avLst/>
          </a:prstGeom>
        </p:spPr>
      </p:pic>
      <p:sp>
        <p:nvSpPr>
          <p:cNvPr id="4" name="عنوان 2"/>
          <p:cNvSpPr txBox="1">
            <a:spLocks/>
          </p:cNvSpPr>
          <p:nvPr/>
        </p:nvSpPr>
        <p:spPr>
          <a:xfrm>
            <a:off x="1524000" y="737076"/>
            <a:ext cx="9144000" cy="945439"/>
          </a:xfrm>
          <a:prstGeom prst="rect">
            <a:avLst/>
          </a:prstGeom>
        </p:spPr>
        <p:txBody>
          <a:bodyPr vert="horz" lIns="91440" tIns="45720" rIns="91440" bIns="45720" rtlCol="1" anchor="b">
            <a:norm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r>
              <a:rPr lang="ar-SA" dirty="0" smtClean="0">
                <a:latin typeface="AL-Mateen"/>
              </a:rPr>
              <a:t>المعادلات</a:t>
            </a:r>
            <a:endParaRPr lang="ar-SA" dirty="0">
              <a:latin typeface="AL-Mateen"/>
            </a:endParaRPr>
          </a:p>
        </p:txBody>
      </p:sp>
      <p:sp>
        <p:nvSpPr>
          <p:cNvPr id="5" name="مربع نص 4"/>
          <p:cNvSpPr txBox="1"/>
          <p:nvPr/>
        </p:nvSpPr>
        <p:spPr>
          <a:xfrm>
            <a:off x="7895968" y="1952368"/>
            <a:ext cx="3150973" cy="1754326"/>
          </a:xfrm>
          <a:prstGeom prst="rect">
            <a:avLst/>
          </a:prstGeom>
          <a:noFill/>
        </p:spPr>
        <p:txBody>
          <a:bodyPr wrap="square" rtlCol="0">
            <a:spAutoFit/>
          </a:bodyPr>
          <a:lstStyle/>
          <a:p>
            <a:pPr algn="ctr"/>
            <a:r>
              <a:rPr lang="ar-SA" dirty="0" smtClean="0"/>
              <a:t>يمكن للمتدرب الاطلاع على الشهادات الاحترافية التي يمكن معادلاتها من خلال الدخول على موقع الإدارة العامة للمناهج عبر الرابط : </a:t>
            </a:r>
            <a:r>
              <a:rPr lang="en-US" dirty="0" smtClean="0">
                <a:hlinkClick r:id="rId4"/>
              </a:rPr>
              <a:t>https://cdd.tvtc.gov.sa</a:t>
            </a:r>
            <a:endParaRPr lang="ar-SA" dirty="0" smtClean="0"/>
          </a:p>
          <a:p>
            <a:pPr algn="ctr"/>
            <a:endParaRPr lang="en-US" dirty="0"/>
          </a:p>
        </p:txBody>
      </p:sp>
      <p:pic>
        <p:nvPicPr>
          <p:cNvPr id="6" name="صورة 5"/>
          <p:cNvPicPr>
            <a:picLocks noChangeAspect="1"/>
          </p:cNvPicPr>
          <p:nvPr/>
        </p:nvPicPr>
        <p:blipFill>
          <a:blip r:embed="rId5"/>
          <a:stretch>
            <a:fillRect/>
          </a:stretch>
        </p:blipFill>
        <p:spPr>
          <a:xfrm>
            <a:off x="460676" y="1509520"/>
            <a:ext cx="6974617" cy="4690270"/>
          </a:xfrm>
          <a:prstGeom prst="rect">
            <a:avLst/>
          </a:prstGeom>
        </p:spPr>
      </p:pic>
      <p:sp>
        <p:nvSpPr>
          <p:cNvPr id="7" name="مربع نص 6"/>
          <p:cNvSpPr txBox="1"/>
          <p:nvPr/>
        </p:nvSpPr>
        <p:spPr>
          <a:xfrm>
            <a:off x="95704" y="6161686"/>
            <a:ext cx="12000529" cy="646331"/>
          </a:xfrm>
          <a:prstGeom prst="rect">
            <a:avLst/>
          </a:prstGeom>
          <a:noFill/>
        </p:spPr>
        <p:txBody>
          <a:bodyPr wrap="none" rtlCol="0">
            <a:spAutoFit/>
          </a:bodyPr>
          <a:lstStyle/>
          <a:p>
            <a:r>
              <a:rPr lang="en-US" dirty="0" smtClean="0">
                <a:hlinkClick r:id="rId6"/>
              </a:rPr>
              <a:t>https://cdd.tvtc.gov.sa/sites/default/files/document/mlhq_dwbt_wtnzymt_tmd_lmwhlt_wmdl_lmqrrt_ltdryby_-_lmlhq_0.pdf</a:t>
            </a:r>
            <a:endParaRPr lang="ar-SA" dirty="0" smtClean="0"/>
          </a:p>
          <a:p>
            <a:endParaRPr lang="en-US" dirty="0"/>
          </a:p>
        </p:txBody>
      </p:sp>
    </p:spTree>
    <p:extLst>
      <p:ext uri="{BB962C8B-B14F-4D97-AF65-F5344CB8AC3E}">
        <p14:creationId xmlns:p14="http://schemas.microsoft.com/office/powerpoint/2010/main" val="5914619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مربع نص 2"/>
          <p:cNvSpPr txBox="1"/>
          <p:nvPr/>
        </p:nvSpPr>
        <p:spPr>
          <a:xfrm>
            <a:off x="4186881" y="5041557"/>
            <a:ext cx="3818238" cy="707886"/>
          </a:xfrm>
          <a:prstGeom prst="rect">
            <a:avLst/>
          </a:prstGeom>
          <a:noFill/>
        </p:spPr>
        <p:txBody>
          <a:bodyPr wrap="square" rtlCol="0">
            <a:spAutoFit/>
          </a:bodyPr>
          <a:lstStyle/>
          <a:p>
            <a:pPr algn="ctr"/>
            <a:r>
              <a:rPr lang="ar-SA" sz="4000" dirty="0" smtClean="0">
                <a:solidFill>
                  <a:schemeClr val="bg1"/>
                </a:solidFill>
              </a:rPr>
              <a:t>شكراً لكم</a:t>
            </a:r>
            <a:endParaRPr lang="en-US" sz="4000" dirty="0">
              <a:solidFill>
                <a:schemeClr val="bg1"/>
              </a:solidFill>
            </a:endParaRPr>
          </a:p>
        </p:txBody>
      </p:sp>
    </p:spTree>
    <p:extLst>
      <p:ext uri="{BB962C8B-B14F-4D97-AF65-F5344CB8AC3E}">
        <p14:creationId xmlns:p14="http://schemas.microsoft.com/office/powerpoint/2010/main" val="3547518419"/>
      </p:ext>
    </p:extLst>
  </p:cSld>
  <p:clrMapOvr>
    <a:masterClrMapping/>
  </p:clrMapOvr>
  <p:timing>
    <p:tnLst>
      <p:par>
        <p:cTn id="1" dur="indefinite" restart="never" nodeType="tmRoot"/>
      </p:par>
    </p:tnLst>
  </p:timing>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699</Words>
  <Application>Microsoft Office PowerPoint</Application>
  <PresentationFormat>شاشة عريضة</PresentationFormat>
  <Paragraphs>116</Paragraphs>
  <Slides>20</Slides>
  <Notes>0</Notes>
  <HiddenSlides>0</HiddenSlides>
  <MMClips>0</MMClips>
  <ScaleCrop>false</ScaleCrop>
  <HeadingPairs>
    <vt:vector size="6" baseType="variant">
      <vt:variant>
        <vt:lpstr>الخطوط المستخدمة</vt:lpstr>
      </vt:variant>
      <vt:variant>
        <vt:i4>6</vt:i4>
      </vt:variant>
      <vt:variant>
        <vt:lpstr>نسق</vt:lpstr>
      </vt:variant>
      <vt:variant>
        <vt:i4>1</vt:i4>
      </vt:variant>
      <vt:variant>
        <vt:lpstr>عناوين الشرائح</vt:lpstr>
      </vt:variant>
      <vt:variant>
        <vt:i4>20</vt:i4>
      </vt:variant>
    </vt:vector>
  </HeadingPairs>
  <TitlesOfParts>
    <vt:vector size="27" baseType="lpstr">
      <vt:lpstr>AL-Mateen</vt:lpstr>
      <vt:lpstr>Arial</vt:lpstr>
      <vt:lpstr>Calibri</vt:lpstr>
      <vt:lpstr>Calibri Light</vt:lpstr>
      <vt:lpstr>Times New Roman</vt:lpstr>
      <vt:lpstr>Wingdings</vt:lpstr>
      <vt:lpstr>نسق Office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Windows User</dc:creator>
  <cp:lastModifiedBy>Windows User</cp:lastModifiedBy>
  <cp:revision>2</cp:revision>
  <dcterms:created xsi:type="dcterms:W3CDTF">2023-08-15T08:51:51Z</dcterms:created>
  <dcterms:modified xsi:type="dcterms:W3CDTF">2023-08-16T10:58:50Z</dcterms:modified>
</cp:coreProperties>
</file>